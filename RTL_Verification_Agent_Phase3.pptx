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64592" y="4654296"/>
            <a:ext cx="8979408" cy="36576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11480" y="41148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Arizona State University</a:t>
            </a:r>
            <a:endParaRPr/>
          </a:p>
        </p:txBody>
      </p:sp>
      <p:cxnSp>
        <p:nvCxnSpPr>
          <p:cNvPr id="89" name="Google Shape;89;p13"/>
          <p:cNvCxnSpPr/>
          <p:nvPr/>
        </p:nvCxnSpPr>
        <p:spPr>
          <a:xfrm>
            <a:off x="411480" y="932688"/>
            <a:ext cx="8321040" cy="0"/>
          </a:xfrm>
          <a:prstGeom prst="straightConnector1">
            <a:avLst/>
          </a:prstGeom>
          <a:noFill/>
          <a:ln w="12700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90" name="Google Shape;90;p13"/>
          <p:cNvSpPr txBox="1"/>
          <p:nvPr/>
        </p:nvSpPr>
        <p:spPr>
          <a:xfrm>
            <a:off x="411480" y="1078992"/>
            <a:ext cx="82296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Codex Verification Agent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for RTL Testbench Generation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11480" y="3090672"/>
            <a:ext cx="82296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Mini Project 2 - Phase 3   |   GenAI for Design Verification   |   Topic 2</a:t>
            </a:r>
            <a:endParaRPr/>
          </a:p>
        </p:txBody>
      </p:sp>
      <p:cxnSp>
        <p:nvCxnSpPr>
          <p:cNvPr id="92" name="Google Shape;92;p13"/>
          <p:cNvCxnSpPr/>
          <p:nvPr/>
        </p:nvCxnSpPr>
        <p:spPr>
          <a:xfrm>
            <a:off x="411480" y="3547872"/>
            <a:ext cx="8321040" cy="0"/>
          </a:xfrm>
          <a:prstGeom prst="straightConnector1">
            <a:avLst/>
          </a:prstGeom>
          <a:noFill/>
          <a:ln w="12700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93" name="Google Shape;93;p13"/>
          <p:cNvSpPr txBox="1"/>
          <p:nvPr/>
        </p:nvSpPr>
        <p:spPr>
          <a:xfrm>
            <a:off x="411480" y="3675887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Agent pipeline with prompt engineering for automated hardware verification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411480" y="4160520"/>
            <a:ext cx="2011680" cy="34747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11480" y="416052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C627"/>
                </a:solidFill>
                <a:latin typeface="Calibri"/>
                <a:ea typeface="Calibri"/>
                <a:cs typeface="Calibri"/>
                <a:sym typeface="Calibri"/>
              </a:rPr>
              <a:t>Phase 3 Submission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2606040" y="4133087"/>
            <a:ext cx="1920240" cy="384048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2606040" y="4133087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3520440" y="42245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Problems Solved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4709160" y="4133087"/>
            <a:ext cx="1920240" cy="384048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4709160" y="4133087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1 / 31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5623560" y="42245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Ideal Score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6812279" y="4133087"/>
            <a:ext cx="1920240" cy="384048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6812279" y="4133087"/>
            <a:ext cx="9144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7726679" y="42245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Compile Failures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4A8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320040" y="713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The ICLAD Verification Task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320040" y="1152144"/>
            <a:ext cx="164592" cy="164592"/>
          </a:xfrm>
          <a:prstGeom prst="ellipse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48640" y="1106424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Each problem: one specification.md + 31 candidate RTL implementations (mutant_*.v).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320040" y="1956816"/>
            <a:ext cx="164592" cy="164592"/>
          </a:xfrm>
          <a:prstGeom prst="ellipse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548640" y="1911095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Only one implementation is correct; the rest have injected bugs.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320040" y="2761488"/>
            <a:ext cx="164592" cy="164592"/>
          </a:xfrm>
          <a:prstGeom prst="ellipse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48640" y="2715768"/>
            <a:ext cx="3703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Agent must generate a self-checking Verilog testbench that passes only the correct design.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320040" y="3767328"/>
            <a:ext cx="3931920" cy="804672"/>
          </a:xfrm>
          <a:prstGeom prst="rect">
            <a:avLst/>
          </a:prstGeom>
          <a:solidFill>
            <a:srgbClr val="F8F4F5"/>
          </a:solidFill>
          <a:ln w="1905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438912" y="3822191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Scoring Metric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438912" y="4069080"/>
            <a:ext cx="365760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2E2E2E"/>
                </a:solidFill>
                <a:latin typeface="Courier New"/>
                <a:ea typeface="Courier New"/>
                <a:cs typeface="Courier New"/>
                <a:sym typeface="Courier New"/>
              </a:rPr>
              <a:t>Score  =  1 / (# passing implementations)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2E2E2E"/>
                </a:solidFill>
                <a:latin typeface="Courier New"/>
                <a:ea typeface="Courier New"/>
                <a:cs typeface="Courier New"/>
                <a:sym typeface="Courier New"/>
              </a:rPr>
              <a:t>Ideal: exactly 1 of 31 passes  -&gt;  Score = 1.0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4663440" y="71323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Discrimination Goal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4663440" y="1115568"/>
            <a:ext cx="1920240" cy="50292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4663440" y="111556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specification.md</a:t>
            </a: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5623560" y="1618488"/>
            <a:ext cx="0" cy="557784"/>
          </a:xfrm>
          <a:prstGeom prst="straightConnector1">
            <a:avLst/>
          </a:prstGeom>
          <a:noFill/>
          <a:ln w="2540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27" name="Google Shape;127;p14"/>
          <p:cNvCxnSpPr/>
          <p:nvPr/>
        </p:nvCxnSpPr>
        <p:spPr>
          <a:xfrm>
            <a:off x="5623560" y="2176272"/>
            <a:ext cx="411480" cy="0"/>
          </a:xfrm>
          <a:prstGeom prst="straightConnector1">
            <a:avLst/>
          </a:prstGeom>
          <a:noFill/>
          <a:ln w="2540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28" name="Google Shape;128;p14"/>
          <p:cNvSpPr/>
          <p:nvPr/>
        </p:nvSpPr>
        <p:spPr>
          <a:xfrm>
            <a:off x="4663440" y="2212848"/>
            <a:ext cx="2103120" cy="5486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4663440" y="2212848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Verification Agent</a:t>
            </a:r>
            <a:endParaRPr/>
          </a:p>
        </p:txBody>
      </p:sp>
      <p:cxnSp>
        <p:nvCxnSpPr>
          <p:cNvPr id="130" name="Google Shape;130;p14"/>
          <p:cNvCxnSpPr/>
          <p:nvPr/>
        </p:nvCxnSpPr>
        <p:spPr>
          <a:xfrm>
            <a:off x="5715000" y="2761488"/>
            <a:ext cx="0" cy="438912"/>
          </a:xfrm>
          <a:prstGeom prst="straightConnector1">
            <a:avLst/>
          </a:prstGeom>
          <a:noFill/>
          <a:ln w="2540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31" name="Google Shape;131;p14"/>
          <p:cNvSpPr/>
          <p:nvPr/>
        </p:nvSpPr>
        <p:spPr>
          <a:xfrm>
            <a:off x="4663440" y="3218688"/>
            <a:ext cx="2103120" cy="502920"/>
          </a:xfrm>
          <a:prstGeom prst="rect">
            <a:avLst/>
          </a:prstGeom>
          <a:solidFill>
            <a:srgbClr val="F8F4F5"/>
          </a:solidFill>
          <a:ln w="1905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4663440" y="3218688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testbench.v  -&gt;  score: 1.0</a:t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6949440" y="1115568"/>
            <a:ext cx="1874519" cy="475488"/>
          </a:xfrm>
          <a:prstGeom prst="rect">
            <a:avLst/>
          </a:prstGeom>
          <a:solidFill>
            <a:srgbClr val="2D7D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6949440" y="1115568"/>
            <a:ext cx="1874519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mutant_0.v  correct</a:t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6949440" y="1682495"/>
            <a:ext cx="1874519" cy="475488"/>
          </a:xfrm>
          <a:prstGeom prst="rect">
            <a:avLst/>
          </a:prstGeom>
          <a:solidFill>
            <a:srgbClr val="A9322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 txBox="1"/>
          <p:nvPr/>
        </p:nvSpPr>
        <p:spPr>
          <a:xfrm>
            <a:off x="6949440" y="1682495"/>
            <a:ext cx="1874519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mutant_1.v  bug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6949440" y="2249424"/>
            <a:ext cx="1874519" cy="475488"/>
          </a:xfrm>
          <a:prstGeom prst="rect">
            <a:avLst/>
          </a:prstGeom>
          <a:solidFill>
            <a:srgbClr val="A9322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949440" y="2249424"/>
            <a:ext cx="1874519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mutant_2.v  bug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6949440" y="2816352"/>
            <a:ext cx="1874519" cy="475488"/>
          </a:xfrm>
          <a:prstGeom prst="rect">
            <a:avLst/>
          </a:prstGeom>
          <a:solidFill>
            <a:srgbClr val="6B6B6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949440" y="2816352"/>
            <a:ext cx="1874519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...  (31 total)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1100" b="0" i="0">
                <a:solidFill>
                  <a:srgbClr val="D4A8B8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713232"/>
            <a:ext cx="1389888" cy="804672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749808"/>
            <a:ext cx="1389888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Parse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170432"/>
            <a:ext cx="1389888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NL → JSON +</a:t>
            </a:r>
          </a:p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oracle fields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82496" y="1115568"/>
            <a:ext cx="256032" cy="0"/>
          </a:xfrm>
          <a:prstGeom prst="line">
            <a:avLst/>
          </a:prstGeom>
          <a:ln w="19050">
            <a:solidFill>
              <a:srgbClr val="8C1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874520" y="1074420"/>
            <a:ext cx="64008" cy="8229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984248" y="713232"/>
            <a:ext cx="1389888" cy="804672"/>
          </a:xfrm>
          <a:prstGeom prst="rect">
            <a:avLst/>
          </a:prstGeom>
          <a:solidFill>
            <a:srgbClr val="6B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84248" y="749808"/>
            <a:ext cx="1389888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Build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Test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84248" y="1170432"/>
            <a:ext cx="1389888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safe / unsafe</a:t>
            </a:r>
          </a:p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checks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92424" y="1115568"/>
            <a:ext cx="256032" cy="0"/>
          </a:xfrm>
          <a:prstGeom prst="line">
            <a:avLst/>
          </a:prstGeom>
          <a:ln w="19050">
            <a:solidFill>
              <a:srgbClr val="8C1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84448" y="1074420"/>
            <a:ext cx="64008" cy="8229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94176" y="713232"/>
            <a:ext cx="1389888" cy="804672"/>
          </a:xfrm>
          <a:prstGeom prst="rect">
            <a:avLst/>
          </a:prstGeom>
          <a:solidFill>
            <a:srgbClr val="5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94176" y="749808"/>
            <a:ext cx="1389888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Generate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1170432"/>
            <a:ext cx="1389888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route: general</a:t>
            </a:r>
          </a:p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or protocol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02352" y="1115568"/>
            <a:ext cx="256032" cy="0"/>
          </a:xfrm>
          <a:prstGeom prst="line">
            <a:avLst/>
          </a:prstGeom>
          <a:ln w="19050">
            <a:solidFill>
              <a:srgbClr val="8C1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94376" y="1074420"/>
            <a:ext cx="64008" cy="8229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04104" y="713232"/>
            <a:ext cx="1389888" cy="8046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04104" y="749808"/>
            <a:ext cx="1389888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Guardrail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4104" y="1170432"/>
            <a:ext cx="1389888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reject unsafe</a:t>
            </a:r>
          </a:p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patterns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12279" y="1115568"/>
            <a:ext cx="256033" cy="0"/>
          </a:xfrm>
          <a:prstGeom prst="line">
            <a:avLst/>
          </a:prstGeom>
          <a:ln w="19050">
            <a:solidFill>
              <a:srgbClr val="8C1D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004303" y="1074420"/>
            <a:ext cx="64008" cy="82296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14032" y="713232"/>
            <a:ext cx="1389888" cy="804672"/>
          </a:xfrm>
          <a:prstGeom prst="rect">
            <a:avLst/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14032" y="749808"/>
            <a:ext cx="1389888" cy="40233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Simulate</a:t>
            </a:r>
          </a:p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+ Score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14032" y="1170432"/>
            <a:ext cx="1389888" cy="310896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iverilog/vvp</a:t>
            </a:r>
          </a:p>
          <a:p>
            <a:pPr algn="ctr"/>
            <a:r>
              <a:rPr sz="800" b="0" i="0">
                <a:solidFill>
                  <a:srgbClr val="FFC627"/>
                </a:solidFill>
                <a:latin typeface="Calibri"/>
              </a:rPr>
              <a:t>all mutants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21040" y="1517904"/>
            <a:ext cx="0" cy="32004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4360" y="1837944"/>
            <a:ext cx="7726680" cy="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4360" y="1517904"/>
            <a:ext cx="0" cy="320040"/>
          </a:xfrm>
          <a:prstGeom prst="line">
            <a:avLst/>
          </a:prstGeom>
          <a:ln w="19050">
            <a:solidFill>
              <a:srgbClr val="FFC6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645920" y="1856232"/>
            <a:ext cx="566928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900" b="0" i="1">
                <a:solidFill>
                  <a:srgbClr val="6B6B6B"/>
                </a:solidFill>
                <a:latin typeface="Calibri"/>
              </a:rPr>
              <a:t>Repair: if compile fails  ·  Refine: if score &lt; 1.0  (rescue refinement on total failure)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231136"/>
            <a:ext cx="4160520" cy="2633472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4048" y="2322576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  <a:latin typeface="Calibri"/>
              </a:rPr>
              <a:t>Key Components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2706624"/>
            <a:ext cx="1143000" cy="2926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2706624"/>
            <a:ext cx="114300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agent.py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91056" y="2706624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E2E2E"/>
                </a:solidFill>
                <a:latin typeface="Calibri"/>
              </a:rPr>
              <a:t>Full orchestration: parse → plan → generate → guardrail → simulate → repair/refine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3108960"/>
            <a:ext cx="1143000" cy="2926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3108960"/>
            <a:ext cx="114300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spec_parser.py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1056" y="3108960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E2E2E"/>
                </a:solidFill>
                <a:latin typeface="Calibri"/>
              </a:rPr>
              <a:t>Extracts oracle_style, guaranteed_properties, ambiguous_properties, forbidden_assumptions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3511296"/>
            <a:ext cx="1143000" cy="2926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" y="3511296"/>
            <a:ext cx="114300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tb_generator.py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91056" y="3511296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E2E2E"/>
                </a:solidFill>
                <a:latin typeface="Calibri"/>
              </a:rPr>
              <a:t>Routes to general or protocol prompt; applies deterministic post-processing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3913632"/>
            <a:ext cx="1143000" cy="2926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84048" y="3913632"/>
            <a:ext cx="114300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simulator.py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91056" y="3913632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E2E2E"/>
                </a:solidFill>
                <a:latin typeface="Calibri"/>
              </a:rPr>
              <a:t>iverilog -g2012 compilation + vvp simulation across all mutants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" y="4315968"/>
            <a:ext cx="1143000" cy="292608"/>
          </a:xfrm>
          <a:prstGeom prst="rect">
            <a:avLst/>
          </a:prstGeom>
          <a:solidFill>
            <a:srgbClr val="8C1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84048" y="4315968"/>
            <a:ext cx="1143000" cy="292608"/>
          </a:xfrm>
          <a:prstGeom prst="rect">
            <a:avLst/>
          </a:prstGeom>
          <a:noFill/>
        </p:spPr>
        <p:txBody>
          <a:bodyPr wrap="square" lIns="0" tIns="18288" rIns="0" bIns="18288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run_pipeline.py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91056" y="4315968"/>
            <a:ext cx="27432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850" b="0" i="0">
                <a:solidFill>
                  <a:srgbClr val="2E2E2E"/>
                </a:solidFill>
                <a:latin typeface="Calibri"/>
              </a:rPr>
              <a:t>Single-command entry point for end-to-end execution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9160" y="2231136"/>
            <a:ext cx="4114800" cy="2633472"/>
          </a:xfrm>
          <a:prstGeom prst="rect">
            <a:avLst/>
          </a:prstGeom>
          <a:solidFill>
            <a:srgbClr val="F8F4F5"/>
          </a:solidFill>
          <a:ln w="9525">
            <a:solidFill>
              <a:srgbClr val="E8E0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800600" y="2322576"/>
            <a:ext cx="393192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200" b="1" i="0">
                <a:solidFill>
                  <a:srgbClr val="8C1D40"/>
                </a:solidFill>
                <a:latin typeface="Calibri"/>
              </a:rPr>
              <a:t>Agent vs. One-Shot Prompt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0600" y="2734056"/>
            <a:ext cx="54864" cy="384048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19472" y="2734056"/>
            <a:ext cx="38404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Intermediate Artifacts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19472" y="295351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Parsed spec JSON + test plan saved and reused across steps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3236976"/>
            <a:ext cx="54864" cy="384048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919472" y="3236976"/>
            <a:ext cx="38404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Real Tool Invocation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19472" y="345643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Calls iverilog/vvp, reads stdout/stderr, parses PASS/FAIL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3739896"/>
            <a:ext cx="54864" cy="384048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919472" y="3739896"/>
            <a:ext cx="38404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Execution Feedback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19472" y="395935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Compile errors and scores fed back for repair and refinement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4242816"/>
            <a:ext cx="54864" cy="384048"/>
          </a:xfrm>
          <a:prstGeom prst="rect">
            <a:avLst/>
          </a:prstGeom>
          <a:solidFill>
            <a:srgbClr val="FFC6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19472" y="4242816"/>
            <a:ext cx="384048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1000" b="1" i="0">
                <a:solidFill>
                  <a:srgbClr val="2E2E2E"/>
                </a:solidFill>
                <a:latin typeface="Calibri"/>
              </a:rPr>
              <a:t>Guardrail-Driven Regen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19472" y="4462272"/>
            <a:ext cx="3840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Protocol testbenches structurally screened before simulation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Architecture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4A8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201168" y="749808"/>
            <a:ext cx="1874519" cy="347472"/>
          </a:xfrm>
          <a:prstGeom prst="rect">
            <a:avLst/>
          </a:prstGeom>
          <a:solidFill>
            <a:srgbClr val="F8F4F5"/>
          </a:solidFill>
          <a:ln w="1905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201168" y="749808"/>
            <a:ext cx="1874519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specification.md</a:t>
            </a:r>
            <a:endParaRPr/>
          </a:p>
        </p:txBody>
      </p:sp>
      <p:cxnSp>
        <p:nvCxnSpPr>
          <p:cNvPr id="151" name="Google Shape;151;p15"/>
          <p:cNvCxnSpPr/>
          <p:nvPr/>
        </p:nvCxnSpPr>
        <p:spPr>
          <a:xfrm>
            <a:off x="2121408" y="923544"/>
            <a:ext cx="822960" cy="0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52" name="Google Shape;152;p15"/>
          <p:cNvSpPr/>
          <p:nvPr/>
        </p:nvSpPr>
        <p:spPr>
          <a:xfrm>
            <a:off x="2926079" y="877824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3017520" y="749808"/>
            <a:ext cx="1920240" cy="34747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3017520" y="749808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parse_spec.txt</a:t>
            </a:r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4983480" y="923544"/>
            <a:ext cx="228600" cy="0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56" name="Google Shape;156;p15"/>
          <p:cNvSpPr/>
          <p:nvPr/>
        </p:nvSpPr>
        <p:spPr>
          <a:xfrm>
            <a:off x="5193792" y="877824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5285232" y="749808"/>
            <a:ext cx="182880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5285232" y="74980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parsed_spec.json</a:t>
            </a:r>
            <a:endParaRPr/>
          </a:p>
        </p:txBody>
      </p:sp>
      <p:cxnSp>
        <p:nvCxnSpPr>
          <p:cNvPr id="159" name="Google Shape;159;p15"/>
          <p:cNvCxnSpPr/>
          <p:nvPr/>
        </p:nvCxnSpPr>
        <p:spPr>
          <a:xfrm>
            <a:off x="6199632" y="1097280"/>
            <a:ext cx="0" cy="237744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60" name="Google Shape;160;p15"/>
          <p:cNvSpPr/>
          <p:nvPr/>
        </p:nvSpPr>
        <p:spPr>
          <a:xfrm>
            <a:off x="6153912" y="1316736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3017520" y="1408176"/>
            <a:ext cx="1920240" cy="34747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 txBox="1"/>
          <p:nvPr/>
        </p:nvSpPr>
        <p:spPr>
          <a:xfrm>
            <a:off x="3017520" y="1408176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gen_testplan.txt</a:t>
            </a:r>
            <a:endParaRPr/>
          </a:p>
        </p:txBody>
      </p:sp>
      <p:cxnSp>
        <p:nvCxnSpPr>
          <p:cNvPr id="163" name="Google Shape;163;p15"/>
          <p:cNvCxnSpPr/>
          <p:nvPr/>
        </p:nvCxnSpPr>
        <p:spPr>
          <a:xfrm>
            <a:off x="4983480" y="1581912"/>
            <a:ext cx="228600" cy="0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64" name="Google Shape;164;p15"/>
          <p:cNvSpPr/>
          <p:nvPr/>
        </p:nvSpPr>
        <p:spPr>
          <a:xfrm>
            <a:off x="5193792" y="1536192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5285232" y="1408176"/>
            <a:ext cx="182880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5285232" y="1408176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test_plan.json</a:t>
            </a:r>
            <a:endParaRPr/>
          </a:p>
        </p:txBody>
      </p:sp>
      <p:cxnSp>
        <p:nvCxnSpPr>
          <p:cNvPr id="167" name="Google Shape;167;p15"/>
          <p:cNvCxnSpPr/>
          <p:nvPr/>
        </p:nvCxnSpPr>
        <p:spPr>
          <a:xfrm>
            <a:off x="6199632" y="1755648"/>
            <a:ext cx="0" cy="155447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68" name="Google Shape;168;p15"/>
          <p:cNvCxnSpPr/>
          <p:nvPr/>
        </p:nvCxnSpPr>
        <p:spPr>
          <a:xfrm>
            <a:off x="3977639" y="1911095"/>
            <a:ext cx="2221993" cy="0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cxnSp>
        <p:nvCxnSpPr>
          <p:cNvPr id="169" name="Google Shape;169;p15"/>
          <p:cNvCxnSpPr/>
          <p:nvPr/>
        </p:nvCxnSpPr>
        <p:spPr>
          <a:xfrm>
            <a:off x="3977639" y="1911095"/>
            <a:ext cx="0" cy="82296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70" name="Google Shape;170;p15"/>
          <p:cNvSpPr/>
          <p:nvPr/>
        </p:nvSpPr>
        <p:spPr>
          <a:xfrm>
            <a:off x="3931920" y="1975103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201168" y="2066543"/>
            <a:ext cx="1874519" cy="347472"/>
          </a:xfrm>
          <a:prstGeom prst="rect">
            <a:avLst/>
          </a:prstGeom>
          <a:solidFill>
            <a:srgbClr val="F8F4F5"/>
          </a:solidFill>
          <a:ln w="1905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201168" y="2066543"/>
            <a:ext cx="1874519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spec.md + parsed_spec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+ test_plan</a:t>
            </a:r>
            <a:endParaRPr/>
          </a:p>
        </p:txBody>
      </p:sp>
      <p:cxnSp>
        <p:nvCxnSpPr>
          <p:cNvPr id="173" name="Google Shape;173;p15"/>
          <p:cNvCxnSpPr/>
          <p:nvPr/>
        </p:nvCxnSpPr>
        <p:spPr>
          <a:xfrm>
            <a:off x="2121408" y="2240279"/>
            <a:ext cx="822960" cy="0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74" name="Google Shape;174;p15"/>
          <p:cNvSpPr/>
          <p:nvPr/>
        </p:nvSpPr>
        <p:spPr>
          <a:xfrm>
            <a:off x="2926079" y="2194560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/>
          <p:nvPr/>
        </p:nvSpPr>
        <p:spPr>
          <a:xfrm>
            <a:off x="3017520" y="2066543"/>
            <a:ext cx="1920240" cy="34747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3017520" y="2066543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gen_testbench.txt</a:t>
            </a:r>
            <a:endParaRPr/>
          </a:p>
        </p:txBody>
      </p:sp>
      <p:sp>
        <p:nvSpPr>
          <p:cNvPr id="177" name="Google Shape;177;p15"/>
          <p:cNvSpPr txBox="1"/>
          <p:nvPr/>
        </p:nvSpPr>
        <p:spPr>
          <a:xfrm>
            <a:off x="5285232" y="2066543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(or gen_testbench_protocol.txt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  if FIFO / CDC / credit module)</a:t>
            </a:r>
            <a:endParaRPr/>
          </a:p>
        </p:txBody>
      </p:sp>
      <p:cxnSp>
        <p:nvCxnSpPr>
          <p:cNvPr id="178" name="Google Shape;178;p15"/>
          <p:cNvCxnSpPr/>
          <p:nvPr/>
        </p:nvCxnSpPr>
        <p:spPr>
          <a:xfrm>
            <a:off x="3977639" y="2414015"/>
            <a:ext cx="0" cy="310897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79" name="Google Shape;179;p15"/>
          <p:cNvSpPr/>
          <p:nvPr/>
        </p:nvSpPr>
        <p:spPr>
          <a:xfrm>
            <a:off x="3931920" y="2706624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3017520" y="2798064"/>
            <a:ext cx="1920240" cy="347472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3017520" y="279806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tb/&lt;name&gt;_tb.v</a:t>
            </a:r>
            <a:endParaRPr/>
          </a:p>
        </p:txBody>
      </p:sp>
      <p:cxnSp>
        <p:nvCxnSpPr>
          <p:cNvPr id="182" name="Google Shape;182;p15"/>
          <p:cNvCxnSpPr/>
          <p:nvPr/>
        </p:nvCxnSpPr>
        <p:spPr>
          <a:xfrm>
            <a:off x="3977639" y="3145536"/>
            <a:ext cx="0" cy="219455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83" name="Google Shape;183;p15"/>
          <p:cNvSpPr/>
          <p:nvPr/>
        </p:nvSpPr>
        <p:spPr>
          <a:xfrm>
            <a:off x="3931920" y="3346703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3017520" y="3438144"/>
            <a:ext cx="1920240" cy="347472"/>
          </a:xfrm>
          <a:prstGeom prst="rect">
            <a:avLst/>
          </a:prstGeom>
          <a:solidFill>
            <a:srgbClr val="2E2E2E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3017520" y="3438144"/>
            <a:ext cx="192024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iverilog + vvp simulation</a:t>
            </a:r>
            <a:endParaRPr/>
          </a:p>
        </p:txBody>
      </p:sp>
      <p:cxnSp>
        <p:nvCxnSpPr>
          <p:cNvPr id="186" name="Google Shape;186;p15"/>
          <p:cNvCxnSpPr/>
          <p:nvPr/>
        </p:nvCxnSpPr>
        <p:spPr>
          <a:xfrm>
            <a:off x="4983480" y="3611879"/>
            <a:ext cx="228600" cy="0"/>
          </a:xfrm>
          <a:prstGeom prst="straightConnector1">
            <a:avLst/>
          </a:prstGeom>
          <a:noFill/>
          <a:ln w="19050" cap="flat" cmpd="sng">
            <a:solidFill>
              <a:srgbClr val="FFC627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187" name="Google Shape;187;p15"/>
          <p:cNvSpPr/>
          <p:nvPr/>
        </p:nvSpPr>
        <p:spPr>
          <a:xfrm>
            <a:off x="5193792" y="3566160"/>
            <a:ext cx="91440" cy="91440"/>
          </a:xfrm>
          <a:prstGeom prst="rect">
            <a:avLst/>
          </a:prstGeom>
          <a:solidFill>
            <a:srgbClr val="FFC627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4974336" y="3355848"/>
            <a:ext cx="310896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if compile fails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5285232" y="3438144"/>
            <a:ext cx="1828800" cy="347472"/>
          </a:xfrm>
          <a:prstGeom prst="rect">
            <a:avLst/>
          </a:prstGeom>
          <a:solidFill>
            <a:srgbClr val="D35A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5285232" y="3438144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repair_testbench.txt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201168" y="4078224"/>
            <a:ext cx="256032" cy="182880"/>
          </a:xfrm>
          <a:prstGeom prst="rect">
            <a:avLst/>
          </a:prstGeom>
          <a:solidFill>
            <a:srgbClr val="F8F4F5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493776" y="407822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Input file</a:t>
            </a: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1938528" y="4078224"/>
            <a:ext cx="256032" cy="18288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2231136" y="407822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Prompt (.txt)</a:t>
            </a: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3675887" y="4078224"/>
            <a:ext cx="256032" cy="18288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5"/>
          <p:cNvSpPr txBox="1"/>
          <p:nvPr/>
        </p:nvSpPr>
        <p:spPr>
          <a:xfrm>
            <a:off x="3968496" y="407822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Structured output (.json)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5413247" y="4078224"/>
            <a:ext cx="256032" cy="182880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5705855" y="407822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Generated Verilog (.v)</a:t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7150607" y="4078224"/>
            <a:ext cx="256032" cy="182880"/>
          </a:xfrm>
          <a:prstGeom prst="rect">
            <a:avLst/>
          </a:prstGeom>
          <a:solidFill>
            <a:srgbClr val="D35A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5"/>
          <p:cNvSpPr txBox="1"/>
          <p:nvPr/>
        </p:nvSpPr>
        <p:spPr>
          <a:xfrm>
            <a:off x="7443215" y="407822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Repair path</a:t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5"/>
          <p:cNvSpPr txBox="1"/>
          <p:nvPr/>
        </p:nvSpPr>
        <p:spPr>
          <a:xfrm>
            <a:off x="320040" y="4782312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FFC627"/>
                </a:solidFill>
                <a:latin typeface="Calibri"/>
                <a:ea typeface="Calibri"/>
                <a:cs typeface="Calibri"/>
                <a:sym typeface="Calibri"/>
              </a:rPr>
              <a:t>Repair if compile fails  *  Refine if score &lt; 1.0  *  Rescue refinement if all mutants fail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Engineering Strategy  -  The Core Contribution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4A8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u="none" strike="noStrike" cap="none">
                <a:solidFill>
                  <a:srgbClr val="8C1D40"/>
                </a:solidFill>
                <a:latin typeface="Calibri"/>
                <a:ea typeface="Calibri"/>
                <a:cs typeface="Calibri"/>
                <a:sym typeface="Calibri"/>
              </a:rPr>
              <a:t>The key insight: don't just generate valid Verilog - generate a trustworthy oracle.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320040" y="1005840"/>
            <a:ext cx="2651760" cy="1938528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6"/>
          <p:cNvSpPr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320040" y="10058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Structured Spec Parsing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411479" y="14081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Parser forces Codex to separate: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411479" y="17007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guaranteed_properties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411479" y="19933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ambiguous_properties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411479" y="22860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forbidden_assumptions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411479" y="257860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Foundation for safe oracle generation.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3154680" y="1005840"/>
            <a:ext cx="2651760" cy="1938528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solidFill>
            <a:srgbClr val="5A306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Oracle-Style Selection</a:t>
            </a:r>
            <a:endParaRPr/>
          </a:p>
        </p:txBody>
      </p:sp>
      <p:sp>
        <p:nvSpPr>
          <p:cNvPr id="223" name="Google Shape;223;p16"/>
          <p:cNvSpPr txBox="1"/>
          <p:nvPr/>
        </p:nvSpPr>
        <p:spPr>
          <a:xfrm>
            <a:off x="3246120" y="14081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Each problem routed to one of:</a:t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3246120" y="17007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formula - combinational mappings</a:t>
            </a:r>
            <a:endParaRPr/>
          </a:p>
        </p:txBody>
      </p:sp>
      <p:sp>
        <p:nvSpPr>
          <p:cNvPr id="225" name="Google Shape;225;p16"/>
          <p:cNvSpPr txBox="1"/>
          <p:nvPr/>
        </p:nvSpPr>
        <p:spPr>
          <a:xfrm>
            <a:off x="3246120" y="19933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cycle_accurate - simple sequential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3246120" y="22860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protocol_invariant - FIFO/CDC/credit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3246120" y="257860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Prevents overconfident assertions.</a:t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5989320" y="1005840"/>
            <a:ext cx="2651760" cy="1938528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5989320" y="1005840"/>
            <a:ext cx="2651760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5989320" y="100584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Safe vs. Unsafe Checks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6080759" y="140817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Test plan explicitly produces: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6080759" y="170078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safe_checks - grounded assertions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6080759" y="199339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* unsafe_checks - avoid these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6080759" y="22860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Stops testbench from rejecting the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6080759" y="257860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correct implementation by accident.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320040" y="3035808"/>
            <a:ext cx="4160520" cy="914400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/>
          <p:nvPr/>
        </p:nvSpPr>
        <p:spPr>
          <a:xfrm>
            <a:off x="320040" y="3035808"/>
            <a:ext cx="4160520" cy="320040"/>
          </a:xfrm>
          <a:prstGeom prst="rect">
            <a:avLst/>
          </a:prstGeom>
          <a:solidFill>
            <a:srgbClr val="D35A0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6"/>
          <p:cNvSpPr txBox="1"/>
          <p:nvPr/>
        </p:nvSpPr>
        <p:spPr>
          <a:xfrm>
            <a:off x="320040" y="3035808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Protocol-Specific Prompting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429768" y="3447288"/>
            <a:ext cx="3941063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Dedicated prompt (gen_testbench_protocol.txt) instructs Codex to avoid: exact CDC latency, exact counter arithmetic, exact queue-depth equalities, bounded credit-pulse windows unless the spec explicitly guarantees them.</a:t>
            </a:r>
            <a:endParaRPr/>
          </a:p>
        </p:txBody>
      </p:sp>
      <p:sp>
        <p:nvSpPr>
          <p:cNvPr id="240" name="Google Shape;240;p16"/>
          <p:cNvSpPr/>
          <p:nvPr/>
        </p:nvSpPr>
        <p:spPr>
          <a:xfrm>
            <a:off x="4709159" y="3035808"/>
            <a:ext cx="4160520" cy="914400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6"/>
          <p:cNvSpPr/>
          <p:nvPr/>
        </p:nvSpPr>
        <p:spPr>
          <a:xfrm>
            <a:off x="4709159" y="3035808"/>
            <a:ext cx="4160520" cy="320040"/>
          </a:xfrm>
          <a:prstGeom prst="rect">
            <a:avLst/>
          </a:prstGeom>
          <a:solidFill>
            <a:srgbClr val="3D5A8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6"/>
          <p:cNvSpPr txBox="1"/>
          <p:nvPr/>
        </p:nvSpPr>
        <p:spPr>
          <a:xfrm>
            <a:off x="4709159" y="3035808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Repair-Mode &amp; Guardrail Regen</a:t>
            </a:r>
            <a:endParaRPr/>
          </a:p>
        </p:txBody>
      </p:sp>
      <p:sp>
        <p:nvSpPr>
          <p:cNvPr id="243" name="Google Shape;243;p16"/>
          <p:cNvSpPr txBox="1"/>
          <p:nvPr/>
        </p:nvSpPr>
        <p:spPr>
          <a:xfrm>
            <a:off x="4818888" y="3447288"/>
            <a:ext cx="3941063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repair_testbench.txt is separate from generation - keeps compile fixes focused on simplifying an over-strong oracle. Guardrail check screens for unsafe bounded-wait patterns before simulation; triggers regeneration if found.</a:t>
            </a:r>
            <a:endParaRPr/>
          </a:p>
        </p:txBody>
      </p:sp>
      <p:sp>
        <p:nvSpPr>
          <p:cNvPr id="244" name="Google Shape;244;p1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 txBox="1"/>
          <p:nvPr/>
        </p:nvSpPr>
        <p:spPr>
          <a:xfrm>
            <a:off x="320040" y="4773168"/>
            <a:ext cx="85039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 u="none" strike="noStrike" cap="none">
                <a:solidFill>
                  <a:srgbClr val="FFC627"/>
                </a:solidFill>
                <a:latin typeface="Calibri"/>
                <a:ea typeface="Calibri"/>
                <a:cs typeface="Calibri"/>
                <a:sym typeface="Calibri"/>
              </a:rPr>
              <a:t>Impact: counter went from failing to score = 1.0 after ambiguity-aware prompt refinement.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/>
          </a:p>
        </p:txBody>
      </p:sp>
      <p:sp>
        <p:nvSpPr>
          <p:cNvPr id="253" name="Google Shape;253;p17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4A8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54" name="Google Shape;254;p17"/>
          <p:cNvSpPr txBox="1"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10 visible benchmark problems evaluated  *  Average score: 0.9  *  1 iteration each, 31 mutants per problem</a:t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320040" y="969264"/>
            <a:ext cx="1371600" cy="265176"/>
          </a:xfrm>
          <a:prstGeom prst="rect">
            <a:avLst/>
          </a:prstGeom>
          <a:solidFill>
            <a:srgbClr val="8C1D40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320040" y="969264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/>
          </a:p>
        </p:txBody>
      </p:sp>
      <p:sp>
        <p:nvSpPr>
          <p:cNvPr id="257" name="Google Shape;257;p17"/>
          <p:cNvSpPr/>
          <p:nvPr/>
        </p:nvSpPr>
        <p:spPr>
          <a:xfrm>
            <a:off x="1719072" y="969264"/>
            <a:ext cx="1252728" cy="265176"/>
          </a:xfrm>
          <a:prstGeom prst="rect">
            <a:avLst/>
          </a:prstGeom>
          <a:solidFill>
            <a:srgbClr val="8C1D40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719072" y="969264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</a:t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>
            <a:off x="2999232" y="969264"/>
            <a:ext cx="1106424" cy="265176"/>
          </a:xfrm>
          <a:prstGeom prst="rect">
            <a:avLst/>
          </a:prstGeom>
          <a:solidFill>
            <a:srgbClr val="8C1D40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 txBox="1"/>
          <p:nvPr/>
        </p:nvSpPr>
        <p:spPr>
          <a:xfrm>
            <a:off x="2999232" y="969264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Passing</a:t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4133087" y="969264"/>
            <a:ext cx="1069848" cy="265176"/>
          </a:xfrm>
          <a:prstGeom prst="rect">
            <a:avLst/>
          </a:prstGeom>
          <a:solidFill>
            <a:srgbClr val="8C1D40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 txBox="1"/>
          <p:nvPr/>
        </p:nvSpPr>
        <p:spPr>
          <a:xfrm>
            <a:off x="4133087" y="969264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5230368" y="969264"/>
            <a:ext cx="978408" cy="265176"/>
          </a:xfrm>
          <a:prstGeom prst="rect">
            <a:avLst/>
          </a:prstGeom>
          <a:solidFill>
            <a:srgbClr val="8C1D40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5230368" y="969264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Errors</a:t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6236208" y="969264"/>
            <a:ext cx="685800" cy="265176"/>
          </a:xfrm>
          <a:prstGeom prst="rect">
            <a:avLst/>
          </a:prstGeom>
          <a:solidFill>
            <a:srgbClr val="8C1D40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7"/>
          <p:cNvSpPr txBox="1"/>
          <p:nvPr/>
        </p:nvSpPr>
        <p:spPr>
          <a:xfrm>
            <a:off x="6236208" y="969264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</a:t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6949440" y="969264"/>
            <a:ext cx="1874519" cy="265176"/>
          </a:xfrm>
          <a:prstGeom prst="rect">
            <a:avLst/>
          </a:prstGeom>
          <a:solidFill>
            <a:srgbClr val="8C1D40"/>
          </a:solidFill>
          <a:ln w="12700" cap="flat" cmpd="sng">
            <a:solidFill>
              <a:srgbClr val="8C1D4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6949440" y="969264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Outcome / Correct Mutant</a:t>
            </a:r>
            <a:endParaRPr/>
          </a:p>
        </p:txBody>
      </p:sp>
      <p:sp>
        <p:nvSpPr>
          <p:cNvPr id="269" name="Google Shape;269;p17"/>
          <p:cNvSpPr/>
          <p:nvPr/>
        </p:nvSpPr>
        <p:spPr>
          <a:xfrm>
            <a:off x="320040" y="1234440"/>
            <a:ext cx="13716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719072" y="1234440"/>
            <a:ext cx="125272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2999232" y="1234440"/>
            <a:ext cx="1106424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4133087" y="1234440"/>
            <a:ext cx="106984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5230368" y="1234440"/>
            <a:ext cx="97840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6236208" y="1234440"/>
            <a:ext cx="6858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6949440" y="1234440"/>
            <a:ext cx="1874519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320040" y="1234440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ecc_sed_encoder</a:t>
            </a:r>
            <a:endParaRPr/>
          </a:p>
        </p:txBody>
      </p:sp>
      <p:sp>
        <p:nvSpPr>
          <p:cNvPr id="277" name="Google Shape;277;p17"/>
          <p:cNvSpPr txBox="1"/>
          <p:nvPr/>
        </p:nvSpPr>
        <p:spPr>
          <a:xfrm>
            <a:off x="1719072" y="1234440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Comb.</a:t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2999232" y="1234440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4133087" y="1234440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5230368" y="1234440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6236208" y="1234440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6949440" y="1234440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mutant_18</a:t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320040" y="1499616"/>
            <a:ext cx="13716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1719072" y="1499616"/>
            <a:ext cx="125272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2999232" y="1499616"/>
            <a:ext cx="1106424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4133087" y="1499616"/>
            <a:ext cx="106984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5230368" y="1499616"/>
            <a:ext cx="97840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6236208" y="1499616"/>
            <a:ext cx="6858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6949440" y="1499616"/>
            <a:ext cx="1874519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 txBox="1"/>
          <p:nvPr/>
        </p:nvSpPr>
        <p:spPr>
          <a:xfrm>
            <a:off x="320040" y="1499616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enc_bin2gray</a:t>
            </a:r>
            <a:endParaRPr/>
          </a:p>
        </p:txBody>
      </p:sp>
      <p:sp>
        <p:nvSpPr>
          <p:cNvPr id="291" name="Google Shape;291;p17"/>
          <p:cNvSpPr txBox="1"/>
          <p:nvPr/>
        </p:nvSpPr>
        <p:spPr>
          <a:xfrm>
            <a:off x="1719072" y="1499616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Comb.</a:t>
            </a:r>
            <a:endParaRPr/>
          </a:p>
        </p:txBody>
      </p:sp>
      <p:sp>
        <p:nvSpPr>
          <p:cNvPr id="292" name="Google Shape;292;p17"/>
          <p:cNvSpPr txBox="1"/>
          <p:nvPr/>
        </p:nvSpPr>
        <p:spPr>
          <a:xfrm>
            <a:off x="2999232" y="1499616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293" name="Google Shape;293;p17"/>
          <p:cNvSpPr txBox="1"/>
          <p:nvPr/>
        </p:nvSpPr>
        <p:spPr>
          <a:xfrm>
            <a:off x="4133087" y="1499616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294" name="Google Shape;294;p17"/>
          <p:cNvSpPr txBox="1"/>
          <p:nvPr/>
        </p:nvSpPr>
        <p:spPr>
          <a:xfrm>
            <a:off x="5230368" y="1499616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95" name="Google Shape;295;p17"/>
          <p:cNvSpPr txBox="1"/>
          <p:nvPr/>
        </p:nvSpPr>
        <p:spPr>
          <a:xfrm>
            <a:off x="6236208" y="1499616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/>
          </a:p>
        </p:txBody>
      </p:sp>
      <p:sp>
        <p:nvSpPr>
          <p:cNvPr id="296" name="Google Shape;296;p17"/>
          <p:cNvSpPr txBox="1"/>
          <p:nvPr/>
        </p:nvSpPr>
        <p:spPr>
          <a:xfrm>
            <a:off x="6949440" y="1499616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mutant_25</a:t>
            </a:r>
            <a:endParaRPr/>
          </a:p>
        </p:txBody>
      </p:sp>
      <p:sp>
        <p:nvSpPr>
          <p:cNvPr id="297" name="Google Shape;297;p17"/>
          <p:cNvSpPr/>
          <p:nvPr/>
        </p:nvSpPr>
        <p:spPr>
          <a:xfrm>
            <a:off x="320040" y="1764792"/>
            <a:ext cx="13716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7"/>
          <p:cNvSpPr/>
          <p:nvPr/>
        </p:nvSpPr>
        <p:spPr>
          <a:xfrm>
            <a:off x="1719072" y="1764792"/>
            <a:ext cx="125272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7"/>
          <p:cNvSpPr/>
          <p:nvPr/>
        </p:nvSpPr>
        <p:spPr>
          <a:xfrm>
            <a:off x="2999232" y="1764792"/>
            <a:ext cx="1106424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7"/>
          <p:cNvSpPr/>
          <p:nvPr/>
        </p:nvSpPr>
        <p:spPr>
          <a:xfrm>
            <a:off x="4133087" y="1764792"/>
            <a:ext cx="106984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7"/>
          <p:cNvSpPr/>
          <p:nvPr/>
        </p:nvSpPr>
        <p:spPr>
          <a:xfrm>
            <a:off x="5230368" y="1764792"/>
            <a:ext cx="97840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7"/>
          <p:cNvSpPr/>
          <p:nvPr/>
        </p:nvSpPr>
        <p:spPr>
          <a:xfrm>
            <a:off x="6236208" y="1764792"/>
            <a:ext cx="6858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7"/>
          <p:cNvSpPr/>
          <p:nvPr/>
        </p:nvSpPr>
        <p:spPr>
          <a:xfrm>
            <a:off x="6949440" y="1764792"/>
            <a:ext cx="1874519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320040" y="1764792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enc_bin2onehot</a:t>
            </a:r>
            <a:endParaRPr/>
          </a:p>
        </p:txBody>
      </p:sp>
      <p:sp>
        <p:nvSpPr>
          <p:cNvPr id="305" name="Google Shape;305;p17"/>
          <p:cNvSpPr txBox="1"/>
          <p:nvPr/>
        </p:nvSpPr>
        <p:spPr>
          <a:xfrm>
            <a:off x="1719072" y="1764792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Comb.</a:t>
            </a:r>
            <a:endParaRPr/>
          </a:p>
        </p:txBody>
      </p:sp>
      <p:sp>
        <p:nvSpPr>
          <p:cNvPr id="306" name="Google Shape;306;p17"/>
          <p:cNvSpPr txBox="1"/>
          <p:nvPr/>
        </p:nvSpPr>
        <p:spPr>
          <a:xfrm>
            <a:off x="2999232" y="1764792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307" name="Google Shape;307;p17"/>
          <p:cNvSpPr txBox="1"/>
          <p:nvPr/>
        </p:nvSpPr>
        <p:spPr>
          <a:xfrm>
            <a:off x="4133087" y="1764792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308" name="Google Shape;308;p17"/>
          <p:cNvSpPr txBox="1"/>
          <p:nvPr/>
        </p:nvSpPr>
        <p:spPr>
          <a:xfrm>
            <a:off x="5230368" y="1764792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09" name="Google Shape;309;p17"/>
          <p:cNvSpPr txBox="1"/>
          <p:nvPr/>
        </p:nvSpPr>
        <p:spPr>
          <a:xfrm>
            <a:off x="6236208" y="1764792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/>
          </a:p>
        </p:txBody>
      </p:sp>
      <p:sp>
        <p:nvSpPr>
          <p:cNvPr id="310" name="Google Shape;310;p17"/>
          <p:cNvSpPr txBox="1"/>
          <p:nvPr/>
        </p:nvSpPr>
        <p:spPr>
          <a:xfrm>
            <a:off x="6949440" y="1764792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mutant_27</a:t>
            </a:r>
            <a:endParaRPr/>
          </a:p>
        </p:txBody>
      </p:sp>
      <p:sp>
        <p:nvSpPr>
          <p:cNvPr id="311" name="Google Shape;311;p17"/>
          <p:cNvSpPr/>
          <p:nvPr/>
        </p:nvSpPr>
        <p:spPr>
          <a:xfrm>
            <a:off x="320040" y="2029967"/>
            <a:ext cx="13716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7"/>
          <p:cNvSpPr/>
          <p:nvPr/>
        </p:nvSpPr>
        <p:spPr>
          <a:xfrm>
            <a:off x="1719072" y="2029967"/>
            <a:ext cx="125272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2999232" y="2029967"/>
            <a:ext cx="1106424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4133087" y="2029967"/>
            <a:ext cx="106984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230368" y="2029967"/>
            <a:ext cx="97840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/>
          <p:nvPr/>
        </p:nvSpPr>
        <p:spPr>
          <a:xfrm>
            <a:off x="6236208" y="2029967"/>
            <a:ext cx="6858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7"/>
          <p:cNvSpPr/>
          <p:nvPr/>
        </p:nvSpPr>
        <p:spPr>
          <a:xfrm>
            <a:off x="6949440" y="2029967"/>
            <a:ext cx="1874519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7"/>
          <p:cNvSpPr txBox="1"/>
          <p:nvPr/>
        </p:nvSpPr>
        <p:spPr>
          <a:xfrm>
            <a:off x="320040" y="2029967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lfsr</a:t>
            </a:r>
            <a:endParaRPr/>
          </a:p>
        </p:txBody>
      </p:sp>
      <p:sp>
        <p:nvSpPr>
          <p:cNvPr id="319" name="Google Shape;319;p17"/>
          <p:cNvSpPr txBox="1"/>
          <p:nvPr/>
        </p:nvSpPr>
        <p:spPr>
          <a:xfrm>
            <a:off x="1719072" y="2029967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Seq.</a:t>
            </a:r>
            <a:endParaRPr/>
          </a:p>
        </p:txBody>
      </p:sp>
      <p:sp>
        <p:nvSpPr>
          <p:cNvPr id="320" name="Google Shape;320;p17"/>
          <p:cNvSpPr txBox="1"/>
          <p:nvPr/>
        </p:nvSpPr>
        <p:spPr>
          <a:xfrm>
            <a:off x="2999232" y="2029967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321" name="Google Shape;321;p17"/>
          <p:cNvSpPr txBox="1"/>
          <p:nvPr/>
        </p:nvSpPr>
        <p:spPr>
          <a:xfrm>
            <a:off x="4133087" y="2029967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322" name="Google Shape;322;p17"/>
          <p:cNvSpPr txBox="1"/>
          <p:nvPr/>
        </p:nvSpPr>
        <p:spPr>
          <a:xfrm>
            <a:off x="5230368" y="2029967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23" name="Google Shape;323;p17"/>
          <p:cNvSpPr txBox="1"/>
          <p:nvPr/>
        </p:nvSpPr>
        <p:spPr>
          <a:xfrm>
            <a:off x="6236208" y="2029967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cycle-acc.</a:t>
            </a:r>
            <a:endParaRPr/>
          </a:p>
        </p:txBody>
      </p:sp>
      <p:sp>
        <p:nvSpPr>
          <p:cNvPr id="324" name="Google Shape;324;p17"/>
          <p:cNvSpPr txBox="1"/>
          <p:nvPr/>
        </p:nvSpPr>
        <p:spPr>
          <a:xfrm>
            <a:off x="6949440" y="2029967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mutant_29</a:t>
            </a:r>
            <a:endParaRPr/>
          </a:p>
        </p:txBody>
      </p:sp>
      <p:sp>
        <p:nvSpPr>
          <p:cNvPr id="325" name="Google Shape;325;p17"/>
          <p:cNvSpPr/>
          <p:nvPr/>
        </p:nvSpPr>
        <p:spPr>
          <a:xfrm>
            <a:off x="320040" y="2295144"/>
            <a:ext cx="13716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1719072" y="2295144"/>
            <a:ext cx="125272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2999232" y="2295144"/>
            <a:ext cx="1106424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133087" y="2295144"/>
            <a:ext cx="106984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5230368" y="2295144"/>
            <a:ext cx="97840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236208" y="2295144"/>
            <a:ext cx="6858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6949440" y="2295144"/>
            <a:ext cx="1874519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320040" y="2295144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shift_left</a:t>
            </a:r>
            <a:endParaRPr/>
          </a:p>
        </p:txBody>
      </p:sp>
      <p:sp>
        <p:nvSpPr>
          <p:cNvPr id="333" name="Google Shape;333;p17"/>
          <p:cNvSpPr txBox="1"/>
          <p:nvPr/>
        </p:nvSpPr>
        <p:spPr>
          <a:xfrm>
            <a:off x="1719072" y="2295144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Comb.</a:t>
            </a:r>
            <a:endParaRPr/>
          </a:p>
        </p:txBody>
      </p:sp>
      <p:sp>
        <p:nvSpPr>
          <p:cNvPr id="334" name="Google Shape;334;p17"/>
          <p:cNvSpPr txBox="1"/>
          <p:nvPr/>
        </p:nvSpPr>
        <p:spPr>
          <a:xfrm>
            <a:off x="2999232" y="2295144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335" name="Google Shape;335;p17"/>
          <p:cNvSpPr txBox="1"/>
          <p:nvPr/>
        </p:nvSpPr>
        <p:spPr>
          <a:xfrm>
            <a:off x="4133087" y="2295144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336" name="Google Shape;336;p17"/>
          <p:cNvSpPr txBox="1"/>
          <p:nvPr/>
        </p:nvSpPr>
        <p:spPr>
          <a:xfrm>
            <a:off x="5230368" y="2295144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6236208" y="2295144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6949440" y="2295144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mutant_1</a:t>
            </a:r>
            <a:endParaRPr/>
          </a:p>
        </p:txBody>
      </p:sp>
      <p:sp>
        <p:nvSpPr>
          <p:cNvPr id="339" name="Google Shape;339;p17"/>
          <p:cNvSpPr/>
          <p:nvPr/>
        </p:nvSpPr>
        <p:spPr>
          <a:xfrm>
            <a:off x="320040" y="2560320"/>
            <a:ext cx="13716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7"/>
          <p:cNvSpPr/>
          <p:nvPr/>
        </p:nvSpPr>
        <p:spPr>
          <a:xfrm>
            <a:off x="1719072" y="2560320"/>
            <a:ext cx="125272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7"/>
          <p:cNvSpPr/>
          <p:nvPr/>
        </p:nvSpPr>
        <p:spPr>
          <a:xfrm>
            <a:off x="2999232" y="2560320"/>
            <a:ext cx="1106424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7"/>
          <p:cNvSpPr/>
          <p:nvPr/>
        </p:nvSpPr>
        <p:spPr>
          <a:xfrm>
            <a:off x="4133087" y="2560320"/>
            <a:ext cx="106984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7"/>
          <p:cNvSpPr/>
          <p:nvPr/>
        </p:nvSpPr>
        <p:spPr>
          <a:xfrm>
            <a:off x="5230368" y="2560320"/>
            <a:ext cx="97840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7"/>
          <p:cNvSpPr/>
          <p:nvPr/>
        </p:nvSpPr>
        <p:spPr>
          <a:xfrm>
            <a:off x="6236208" y="2560320"/>
            <a:ext cx="6858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7"/>
          <p:cNvSpPr/>
          <p:nvPr/>
        </p:nvSpPr>
        <p:spPr>
          <a:xfrm>
            <a:off x="6949440" y="2560320"/>
            <a:ext cx="1874519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 txBox="1"/>
          <p:nvPr/>
        </p:nvSpPr>
        <p:spPr>
          <a:xfrm>
            <a:off x="320040" y="2560320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shift_right</a:t>
            </a:r>
            <a:endParaRPr/>
          </a:p>
        </p:txBody>
      </p:sp>
      <p:sp>
        <p:nvSpPr>
          <p:cNvPr id="347" name="Google Shape;347;p17"/>
          <p:cNvSpPr txBox="1"/>
          <p:nvPr/>
        </p:nvSpPr>
        <p:spPr>
          <a:xfrm>
            <a:off x="1719072" y="2560320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Comb.</a:t>
            </a:r>
            <a:endParaRPr/>
          </a:p>
        </p:txBody>
      </p:sp>
      <p:sp>
        <p:nvSpPr>
          <p:cNvPr id="348" name="Google Shape;348;p17"/>
          <p:cNvSpPr txBox="1"/>
          <p:nvPr/>
        </p:nvSpPr>
        <p:spPr>
          <a:xfrm>
            <a:off x="2999232" y="2560320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349" name="Google Shape;349;p17"/>
          <p:cNvSpPr txBox="1"/>
          <p:nvPr/>
        </p:nvSpPr>
        <p:spPr>
          <a:xfrm>
            <a:off x="4133087" y="2560320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350" name="Google Shape;350;p17"/>
          <p:cNvSpPr txBox="1"/>
          <p:nvPr/>
        </p:nvSpPr>
        <p:spPr>
          <a:xfrm>
            <a:off x="5230368" y="2560320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1" name="Google Shape;351;p17"/>
          <p:cNvSpPr txBox="1"/>
          <p:nvPr/>
        </p:nvSpPr>
        <p:spPr>
          <a:xfrm>
            <a:off x="6236208" y="2560320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formula</a:t>
            </a:r>
            <a:endParaRPr/>
          </a:p>
        </p:txBody>
      </p:sp>
      <p:sp>
        <p:nvSpPr>
          <p:cNvPr id="352" name="Google Shape;352;p17"/>
          <p:cNvSpPr txBox="1"/>
          <p:nvPr/>
        </p:nvSpPr>
        <p:spPr>
          <a:xfrm>
            <a:off x="6949440" y="2560320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mutant_9</a:t>
            </a:r>
            <a:endParaRPr/>
          </a:p>
        </p:txBody>
      </p:sp>
      <p:sp>
        <p:nvSpPr>
          <p:cNvPr id="353" name="Google Shape;353;p17"/>
          <p:cNvSpPr/>
          <p:nvPr/>
        </p:nvSpPr>
        <p:spPr>
          <a:xfrm>
            <a:off x="320040" y="2825496"/>
            <a:ext cx="13716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1719072" y="2825496"/>
            <a:ext cx="125272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2999232" y="2825496"/>
            <a:ext cx="1106424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4133087" y="2825496"/>
            <a:ext cx="106984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5230368" y="2825496"/>
            <a:ext cx="97840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6236208" y="2825496"/>
            <a:ext cx="6858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6949440" y="2825496"/>
            <a:ext cx="1874519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/>
        </p:nvSpPr>
        <p:spPr>
          <a:xfrm>
            <a:off x="320040" y="2825496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counter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1719072" y="2825496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Seq.</a:t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2999232" y="2825496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4133087" y="2825496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5230368" y="2825496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65" name="Google Shape;365;p17"/>
          <p:cNvSpPr txBox="1"/>
          <p:nvPr/>
        </p:nvSpPr>
        <p:spPr>
          <a:xfrm>
            <a:off x="6236208" y="2825496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cycle-acc.</a:t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6949440" y="2825496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mutant_11</a:t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320040" y="3090672"/>
            <a:ext cx="13716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1719072" y="3090672"/>
            <a:ext cx="125272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2999232" y="3090672"/>
            <a:ext cx="1106424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4133087" y="3090672"/>
            <a:ext cx="106984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5230368" y="3090672"/>
            <a:ext cx="97840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6236208" y="3090672"/>
            <a:ext cx="6858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6949440" y="3090672"/>
            <a:ext cx="1874519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320040" y="3090672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credit_receiver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1719072" y="3090672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Proto.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2999232" y="3090672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4133087" y="3090672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5230368" y="3090672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6236208" y="3090672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proto_inv.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6949440" y="3090672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mutant_18</a:t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320040" y="3355848"/>
            <a:ext cx="13716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1719072" y="3355848"/>
            <a:ext cx="125272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2999232" y="3355848"/>
            <a:ext cx="1106424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4133087" y="3355848"/>
            <a:ext cx="106984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5230368" y="3355848"/>
            <a:ext cx="978408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6236208" y="3355848"/>
            <a:ext cx="685800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6949440" y="3355848"/>
            <a:ext cx="1874519" cy="265176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320040" y="3355848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fifo_flops</a:t>
            </a:r>
            <a:endParaRPr/>
          </a:p>
        </p:txBody>
      </p:sp>
      <p:sp>
        <p:nvSpPr>
          <p:cNvPr id="389" name="Google Shape;389;p17"/>
          <p:cNvSpPr txBox="1"/>
          <p:nvPr/>
        </p:nvSpPr>
        <p:spPr>
          <a:xfrm>
            <a:off x="1719072" y="3355848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Proto.</a:t>
            </a:r>
            <a:endParaRPr/>
          </a:p>
        </p:txBody>
      </p:sp>
      <p:sp>
        <p:nvSpPr>
          <p:cNvPr id="390" name="Google Shape;390;p17"/>
          <p:cNvSpPr txBox="1"/>
          <p:nvPr/>
        </p:nvSpPr>
        <p:spPr>
          <a:xfrm>
            <a:off x="2999232" y="3355848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1/31</a:t>
            </a:r>
            <a:endParaRPr/>
          </a:p>
        </p:txBody>
      </p:sp>
      <p:sp>
        <p:nvSpPr>
          <p:cNvPr id="391" name="Google Shape;391;p17"/>
          <p:cNvSpPr txBox="1"/>
          <p:nvPr/>
        </p:nvSpPr>
        <p:spPr>
          <a:xfrm>
            <a:off x="4133087" y="3355848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1.0</a:t>
            </a:r>
            <a:endParaRPr/>
          </a:p>
        </p:txBody>
      </p:sp>
      <p:sp>
        <p:nvSpPr>
          <p:cNvPr id="392" name="Google Shape;392;p17"/>
          <p:cNvSpPr txBox="1"/>
          <p:nvPr/>
        </p:nvSpPr>
        <p:spPr>
          <a:xfrm>
            <a:off x="5230368" y="3355848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93" name="Google Shape;393;p17"/>
          <p:cNvSpPr txBox="1"/>
          <p:nvPr/>
        </p:nvSpPr>
        <p:spPr>
          <a:xfrm>
            <a:off x="6236208" y="3355848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proto_inv.</a:t>
            </a:r>
            <a:endParaRPr/>
          </a:p>
        </p:txBody>
      </p:sp>
      <p:sp>
        <p:nvSpPr>
          <p:cNvPr id="394" name="Google Shape;394;p17"/>
          <p:cNvSpPr txBox="1"/>
          <p:nvPr/>
        </p:nvSpPr>
        <p:spPr>
          <a:xfrm>
            <a:off x="6949440" y="3355848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D7D46"/>
                </a:solidFill>
                <a:latin typeface="Calibri"/>
                <a:ea typeface="Calibri"/>
                <a:cs typeface="Calibri"/>
                <a:sym typeface="Calibri"/>
              </a:rPr>
              <a:t>mutant_23</a:t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>
            <a:off x="320040" y="3621024"/>
            <a:ext cx="13716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1719072" y="3621024"/>
            <a:ext cx="125272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2999232" y="3621024"/>
            <a:ext cx="1106424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4133087" y="3621024"/>
            <a:ext cx="106984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5230368" y="3621024"/>
            <a:ext cx="978408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6236208" y="3621024"/>
            <a:ext cx="685800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6949440" y="3621024"/>
            <a:ext cx="1874519" cy="265176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320040" y="3621024"/>
            <a:ext cx="13716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cdc_fifo_flops_push_credit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1719072" y="3621024"/>
            <a:ext cx="125272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Proto.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2999232" y="3621024"/>
            <a:ext cx="1106424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0/31</a:t>
            </a:r>
            <a:endParaRPr/>
          </a:p>
        </p:txBody>
      </p:sp>
      <p:sp>
        <p:nvSpPr>
          <p:cNvPr id="405" name="Google Shape;405;p17"/>
          <p:cNvSpPr txBox="1"/>
          <p:nvPr/>
        </p:nvSpPr>
        <p:spPr>
          <a:xfrm>
            <a:off x="4133087" y="3621024"/>
            <a:ext cx="106984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0.0</a:t>
            </a:r>
            <a:endParaRPr/>
          </a:p>
        </p:txBody>
      </p:sp>
      <p:sp>
        <p:nvSpPr>
          <p:cNvPr id="406" name="Google Shape;406;p17"/>
          <p:cNvSpPr txBox="1"/>
          <p:nvPr/>
        </p:nvSpPr>
        <p:spPr>
          <a:xfrm>
            <a:off x="5230368" y="3621024"/>
            <a:ext cx="978408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07" name="Google Shape;407;p17"/>
          <p:cNvSpPr txBox="1"/>
          <p:nvPr/>
        </p:nvSpPr>
        <p:spPr>
          <a:xfrm>
            <a:off x="6236208" y="3621024"/>
            <a:ext cx="685800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proto_inv.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6949440" y="3621024"/>
            <a:ext cx="1874519" cy="26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18275" rIns="182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-- Oracle failure --</a:t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320040" y="3941063"/>
            <a:ext cx="1938528" cy="658368"/>
          </a:xfrm>
          <a:prstGeom prst="rect">
            <a:avLst/>
          </a:prstGeom>
          <a:solidFill>
            <a:srgbClr val="2D7D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 txBox="1"/>
          <p:nvPr/>
        </p:nvSpPr>
        <p:spPr>
          <a:xfrm>
            <a:off x="320040" y="3941063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/>
          </a:p>
        </p:txBody>
      </p:sp>
      <p:sp>
        <p:nvSpPr>
          <p:cNvPr id="411" name="Google Shape;411;p17"/>
          <p:cNvSpPr txBox="1"/>
          <p:nvPr/>
        </p:nvSpPr>
        <p:spPr>
          <a:xfrm>
            <a:off x="320040" y="4288536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Problems Solved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(Score = 1.0)</a:t>
            </a:r>
            <a:endParaRPr/>
          </a:p>
        </p:txBody>
      </p:sp>
      <p:sp>
        <p:nvSpPr>
          <p:cNvPr id="412" name="Google Shape;412;p17"/>
          <p:cNvSpPr/>
          <p:nvPr/>
        </p:nvSpPr>
        <p:spPr>
          <a:xfrm>
            <a:off x="2441448" y="3941063"/>
            <a:ext cx="1938528" cy="658368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 txBox="1"/>
          <p:nvPr/>
        </p:nvSpPr>
        <p:spPr>
          <a:xfrm>
            <a:off x="2441448" y="3941063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14" name="Google Shape;414;p17"/>
          <p:cNvSpPr txBox="1"/>
          <p:nvPr/>
        </p:nvSpPr>
        <p:spPr>
          <a:xfrm>
            <a:off x="2441448" y="4288536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Compile Failures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 solved set</a:t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4562856" y="3941063"/>
            <a:ext cx="1938528" cy="658368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 txBox="1"/>
          <p:nvPr/>
        </p:nvSpPr>
        <p:spPr>
          <a:xfrm>
            <a:off x="4562856" y="3941063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</a:t>
            </a:r>
            <a:endParaRPr/>
          </a:p>
        </p:txBody>
      </p:sp>
      <p:sp>
        <p:nvSpPr>
          <p:cNvPr id="417" name="Google Shape;417;p17"/>
          <p:cNvSpPr txBox="1"/>
          <p:nvPr/>
        </p:nvSpPr>
        <p:spPr>
          <a:xfrm>
            <a:off x="4562856" y="4288536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Score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across all 10</a:t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6684264" y="3941063"/>
            <a:ext cx="1938528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 txBox="1"/>
          <p:nvPr/>
        </p:nvSpPr>
        <p:spPr>
          <a:xfrm>
            <a:off x="6684264" y="3941063"/>
            <a:ext cx="19385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0" name="Google Shape;420;p17"/>
          <p:cNvSpPr txBox="1"/>
          <p:nvPr/>
        </p:nvSpPr>
        <p:spPr>
          <a:xfrm>
            <a:off x="6684264" y="4288536"/>
            <a:ext cx="1938528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Protocol Cases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Still Open</a:t>
            </a:r>
            <a:endParaRPr/>
          </a:p>
        </p:txBody>
      </p:sp>
      <p:sp>
        <p:nvSpPr>
          <p:cNvPr id="421" name="Google Shape;421;p17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 txBox="1"/>
          <p:nvPr/>
        </p:nvSpPr>
        <p:spPr>
          <a:xfrm>
            <a:off x="365760" y="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Worked, What's Hard &amp; Phase 3 Outcomes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8641080" y="0"/>
            <a:ext cx="3657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D4A8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320040" y="685800"/>
            <a:ext cx="2743200" cy="4160520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320040" y="685800"/>
            <a:ext cx="2743200" cy="365760"/>
          </a:xfrm>
          <a:prstGeom prst="rect">
            <a:avLst/>
          </a:prstGeom>
          <a:solidFill>
            <a:srgbClr val="2D7D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 txBox="1"/>
          <p:nvPr/>
        </p:nvSpPr>
        <p:spPr>
          <a:xfrm>
            <a:off x="320040" y="685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/>
          </a:p>
        </p:txBody>
      </p:sp>
      <p:sp>
        <p:nvSpPr>
          <p:cNvPr id="432" name="Google Shape;432;p18"/>
          <p:cNvSpPr/>
          <p:nvPr/>
        </p:nvSpPr>
        <p:spPr>
          <a:xfrm>
            <a:off x="429768" y="1161288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 txBox="1"/>
          <p:nvPr/>
        </p:nvSpPr>
        <p:spPr>
          <a:xfrm>
            <a:off x="548640" y="116128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9/10 solved cleanly</a:t>
            </a:r>
            <a:endParaRPr/>
          </a:p>
        </p:txBody>
      </p:sp>
      <p:sp>
        <p:nvSpPr>
          <p:cNvPr id="434" name="Google Shape;434;p18"/>
          <p:cNvSpPr txBox="1"/>
          <p:nvPr/>
        </p:nvSpPr>
        <p:spPr>
          <a:xfrm>
            <a:off x="548640" y="1417320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Formula, cycle-accurate, AND protocol modules (credit_receiver, fifo_flops) now score 1.0</a:t>
            </a:r>
            <a:endParaRPr/>
          </a:p>
        </p:txBody>
      </p:sp>
      <p:sp>
        <p:nvSpPr>
          <p:cNvPr id="435" name="Google Shape;435;p18"/>
          <p:cNvSpPr/>
          <p:nvPr/>
        </p:nvSpPr>
        <p:spPr>
          <a:xfrm>
            <a:off x="429768" y="2057400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 txBox="1"/>
          <p:nvPr/>
        </p:nvSpPr>
        <p:spPr>
          <a:xfrm>
            <a:off x="548640" y="205740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counter recovered via prompt fix</a:t>
            </a: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548640" y="231343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Ambiguity-aware parsing turned a formerly failing case to 1/31</a:t>
            </a:r>
            <a:endParaRPr/>
          </a:p>
        </p:txBody>
      </p:sp>
      <p:sp>
        <p:nvSpPr>
          <p:cNvPr id="438" name="Google Shape;438;p18"/>
          <p:cNvSpPr/>
          <p:nvPr/>
        </p:nvSpPr>
        <p:spPr>
          <a:xfrm>
            <a:off x="429768" y="2953512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 txBox="1"/>
          <p:nvPr/>
        </p:nvSpPr>
        <p:spPr>
          <a:xfrm>
            <a:off x="548640" y="295351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Full artifact trail</a:t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548640" y="3209544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Parsed spec JSON, test plan, sim logs - fully reproducible</a:t>
            </a:r>
            <a:endParaRPr/>
          </a:p>
        </p:txBody>
      </p:sp>
      <p:sp>
        <p:nvSpPr>
          <p:cNvPr id="441" name="Google Shape;441;p18"/>
          <p:cNvSpPr/>
          <p:nvPr/>
        </p:nvSpPr>
        <p:spPr>
          <a:xfrm>
            <a:off x="429768" y="3849624"/>
            <a:ext cx="54864" cy="713232"/>
          </a:xfrm>
          <a:prstGeom prst="rect">
            <a:avLst/>
          </a:prstGeom>
          <a:solidFill>
            <a:srgbClr val="2D7D4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 txBox="1"/>
          <p:nvPr/>
        </p:nvSpPr>
        <p:spPr>
          <a:xfrm>
            <a:off x="548640" y="384962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Compile stability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548640" y="41056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Guardrail regen + repair prompt - zero compile errors across entire solved set</a:t>
            </a:r>
            <a:endParaRPr/>
          </a:p>
        </p:txBody>
      </p:sp>
      <p:sp>
        <p:nvSpPr>
          <p:cNvPr id="444" name="Google Shape;444;p18"/>
          <p:cNvSpPr/>
          <p:nvPr/>
        </p:nvSpPr>
        <p:spPr>
          <a:xfrm>
            <a:off x="3223260" y="685800"/>
            <a:ext cx="2743200" cy="4160520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3223260" y="685800"/>
            <a:ext cx="274320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 txBox="1"/>
          <p:nvPr/>
        </p:nvSpPr>
        <p:spPr>
          <a:xfrm>
            <a:off x="3223260" y="685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Hard Problem</a:t>
            </a:r>
            <a:endParaRPr/>
          </a:p>
        </p:txBody>
      </p:sp>
      <p:sp>
        <p:nvSpPr>
          <p:cNvPr id="447" name="Google Shape;447;p18"/>
          <p:cNvSpPr/>
          <p:nvPr/>
        </p:nvSpPr>
        <p:spPr>
          <a:xfrm>
            <a:off x="3332988" y="1161288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 txBox="1"/>
          <p:nvPr/>
        </p:nvSpPr>
        <p:spPr>
          <a:xfrm>
            <a:off x="3451860" y="116128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cdc_fifo_flops_push_credit</a:t>
            </a:r>
            <a:endParaRPr/>
          </a:p>
        </p:txBody>
      </p:sp>
      <p:sp>
        <p:nvSpPr>
          <p:cNvPr id="449" name="Google Shape;449;p18"/>
          <p:cNvSpPr txBox="1"/>
          <p:nvPr/>
        </p:nvSpPr>
        <p:spPr>
          <a:xfrm>
            <a:off x="3451860" y="1417320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Spec is extremely large; context size causes LLM timeout. Oracle rejects all 31 including correct.</a:t>
            </a:r>
            <a:endParaRPr/>
          </a:p>
        </p:txBody>
      </p:sp>
      <p:sp>
        <p:nvSpPr>
          <p:cNvPr id="450" name="Google Shape;450;p18"/>
          <p:cNvSpPr/>
          <p:nvPr/>
        </p:nvSpPr>
        <p:spPr>
          <a:xfrm>
            <a:off x="3332988" y="2057400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 txBox="1"/>
          <p:nvPr/>
        </p:nvSpPr>
        <p:spPr>
          <a:xfrm>
            <a:off x="3451860" y="205740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Over-confident timing assertions</a:t>
            </a:r>
            <a:endParaRPr/>
          </a:p>
        </p:txBody>
      </p:sp>
      <p:sp>
        <p:nvSpPr>
          <p:cNvPr id="452" name="Google Shape;452;p18"/>
          <p:cNvSpPr txBox="1"/>
          <p:nvPr/>
        </p:nvSpPr>
        <p:spPr>
          <a:xfrm>
            <a:off x="3451860" y="231343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Codex invents exact synchronization latency not guaranteed by spec</a:t>
            </a:r>
            <a:endParaRPr/>
          </a:p>
        </p:txBody>
      </p:sp>
      <p:sp>
        <p:nvSpPr>
          <p:cNvPr id="453" name="Google Shape;453;p18"/>
          <p:cNvSpPr/>
          <p:nvPr/>
        </p:nvSpPr>
        <p:spPr>
          <a:xfrm>
            <a:off x="3332988" y="2953512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 txBox="1"/>
          <p:nvPr/>
        </p:nvSpPr>
        <p:spPr>
          <a:xfrm>
            <a:off x="3451860" y="295351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Spec ambiguity</a:t>
            </a:r>
            <a:endParaRPr/>
          </a:p>
        </p:txBody>
      </p:sp>
      <p:sp>
        <p:nvSpPr>
          <p:cNvPr id="455" name="Google Shape;455;p18"/>
          <p:cNvSpPr txBox="1"/>
          <p:nvPr/>
        </p:nvSpPr>
        <p:spPr>
          <a:xfrm>
            <a:off x="3451860" y="3209544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Remaining failure is semantic oracle failure, not a syntax or tool error</a:t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3332988" y="3849624"/>
            <a:ext cx="54864" cy="713232"/>
          </a:xfrm>
          <a:prstGeom prst="rect">
            <a:avLst/>
          </a:prstGeom>
          <a:solidFill>
            <a:srgbClr val="C0392B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 txBox="1"/>
          <p:nvPr/>
        </p:nvSpPr>
        <p:spPr>
          <a:xfrm>
            <a:off x="3451860" y="384962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Not a solvable shortcut</a:t>
            </a:r>
            <a:endParaRPr/>
          </a:p>
        </p:txBody>
      </p:sp>
      <p:sp>
        <p:nvSpPr>
          <p:cNvPr id="458" name="Google Shape;458;p18"/>
          <p:cNvSpPr txBox="1"/>
          <p:nvPr/>
        </p:nvSpPr>
        <p:spPr>
          <a:xfrm>
            <a:off x="3451860" y="41056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Cannot hardcode reference checkers - must remain Codex-driven</a:t>
            </a:r>
            <a:endParaRPr/>
          </a:p>
        </p:txBody>
      </p:sp>
      <p:sp>
        <p:nvSpPr>
          <p:cNvPr id="459" name="Google Shape;459;p18"/>
          <p:cNvSpPr/>
          <p:nvPr/>
        </p:nvSpPr>
        <p:spPr>
          <a:xfrm>
            <a:off x="6126479" y="685800"/>
            <a:ext cx="2743200" cy="4160520"/>
          </a:xfrm>
          <a:prstGeom prst="rect">
            <a:avLst/>
          </a:prstGeom>
          <a:solidFill>
            <a:srgbClr val="F8F4F5"/>
          </a:solidFill>
          <a:ln w="9525" cap="flat" cmpd="sng">
            <a:solidFill>
              <a:srgbClr val="E8E0E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126479" y="685800"/>
            <a:ext cx="2743200" cy="365760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 txBox="1"/>
          <p:nvPr/>
        </p:nvSpPr>
        <p:spPr>
          <a:xfrm>
            <a:off x="6126479" y="685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3 Outcomes</a:t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6236207" y="1161288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 txBox="1"/>
          <p:nvPr/>
        </p:nvSpPr>
        <p:spPr>
          <a:xfrm>
            <a:off x="6355079" y="1161288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Full visible benchmark run</a:t>
            </a:r>
            <a:endParaRPr/>
          </a:p>
        </p:txBody>
      </p:sp>
      <p:sp>
        <p:nvSpPr>
          <p:cNvPr id="464" name="Google Shape;464;p18"/>
          <p:cNvSpPr txBox="1"/>
          <p:nvPr/>
        </p:nvSpPr>
        <p:spPr>
          <a:xfrm>
            <a:off x="6355079" y="1417320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All 10 problems evaluated - 9/10 score 1.0, aggregate metrics reported</a:t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6236207" y="2057400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 txBox="1"/>
          <p:nvPr/>
        </p:nvSpPr>
        <p:spPr>
          <a:xfrm>
            <a:off x="6355079" y="2057400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Protocol module breakthrough</a:t>
            </a:r>
            <a:endParaRPr/>
          </a:p>
        </p:txBody>
      </p:sp>
      <p:sp>
        <p:nvSpPr>
          <p:cNvPr id="467" name="Google Shape;467;p18"/>
          <p:cNvSpPr txBox="1"/>
          <p:nvPr/>
        </p:nvSpPr>
        <p:spPr>
          <a:xfrm>
            <a:off x="6355079" y="2313432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credit_receiver and fifo_flops now solved via stronger protocol-invariant prompting</a:t>
            </a:r>
            <a:endParaRPr/>
          </a:p>
        </p:txBody>
      </p:sp>
      <p:sp>
        <p:nvSpPr>
          <p:cNvPr id="468" name="Google Shape;468;p18"/>
          <p:cNvSpPr/>
          <p:nvPr/>
        </p:nvSpPr>
        <p:spPr>
          <a:xfrm>
            <a:off x="6236207" y="2953512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 txBox="1"/>
          <p:nvPr/>
        </p:nvSpPr>
        <p:spPr>
          <a:xfrm>
            <a:off x="6355079" y="295351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Repair + rescue flow validated</a:t>
            </a:r>
            <a:endParaRPr/>
          </a:p>
        </p:txBody>
      </p:sp>
      <p:sp>
        <p:nvSpPr>
          <p:cNvPr id="470" name="Google Shape;470;p18"/>
          <p:cNvSpPr txBox="1"/>
          <p:nvPr/>
        </p:nvSpPr>
        <p:spPr>
          <a:xfrm>
            <a:off x="6355079" y="3209544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All-fail rescue refinement confirmed working across sequential modules</a:t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6236207" y="3849624"/>
            <a:ext cx="54864" cy="713232"/>
          </a:xfrm>
          <a:prstGeom prst="rect">
            <a:avLst/>
          </a:prstGeom>
          <a:solidFill>
            <a:srgbClr val="1A5276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 txBox="1"/>
          <p:nvPr/>
        </p:nvSpPr>
        <p:spPr>
          <a:xfrm>
            <a:off x="6355079" y="3849624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One remaining open problem</a:t>
            </a:r>
            <a:endParaRPr/>
          </a:p>
        </p:txBody>
      </p:sp>
      <p:sp>
        <p:nvSpPr>
          <p:cNvPr id="473" name="Google Shape;473;p18"/>
          <p:cNvSpPr txBox="1"/>
          <p:nvPr/>
        </p:nvSpPr>
        <p:spPr>
          <a:xfrm>
            <a:off x="6355079" y="4105656"/>
            <a:ext cx="242316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cdc_fifo_flops_push_credit: context-size + timing ambiguity - future property synthesis target</a:t>
            </a:r>
            <a:endParaRPr/>
          </a:p>
        </p:txBody>
      </p:sp>
      <p:sp>
        <p:nvSpPr>
          <p:cNvPr id="474" name="Google Shape;474;p1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8C1D4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 txBox="1"/>
          <p:nvPr/>
        </p:nvSpPr>
        <p:spPr>
          <a:xfrm>
            <a:off x="320040" y="4782312"/>
            <a:ext cx="85039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8275" rIns="0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>
                <a:solidFill>
                  <a:srgbClr val="FFC627"/>
                </a:solidFill>
                <a:latin typeface="Calibri"/>
                <a:ea typeface="Calibri"/>
                <a:cs typeface="Calibri"/>
                <a:sym typeface="Calibri"/>
              </a:rPr>
              <a:t>Takeaway: 9/10 solved cleanly including protocol modules. One CDC case remains open due to context-window limits and semantic ambiguity.</a:t>
            </a:r>
            <a:endParaRPr/>
          </a:p>
        </p:txBody>
      </p:sp>
      <p:sp>
        <p:nvSpPr>
          <p:cNvPr id="476" name="Google Shape;476;p18"/>
          <p:cNvSpPr txBox="1"/>
          <p:nvPr/>
        </p:nvSpPr>
        <p:spPr>
          <a:xfrm>
            <a:off x="8595360" y="4828032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5" tIns="18275" rIns="36575" bIns="18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Microsoft Office PowerPoint</Application>
  <PresentationFormat>On-screen Show (16:9)</PresentationFormat>
  <Paragraphs>251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Raunak Manoj Batavia (Student)</cp:lastModifiedBy>
  <cp:revision>1</cp:revision>
  <dcterms:modified xsi:type="dcterms:W3CDTF">2026-04-28T05:27:56Z</dcterms:modified>
</cp:coreProperties>
</file>
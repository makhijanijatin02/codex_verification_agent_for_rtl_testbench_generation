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6B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7772400" cy="1783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Codex Verification Agent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for RTL Testbench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33472"/>
            <a:ext cx="777240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FFC627"/>
                </a:solidFill>
                <a:latin typeface="Calibri"/>
              </a:rPr>
              <a:t>Mini Project 2 - Phase 2   |   AI for Design Verification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3072384"/>
            <a:ext cx="6400800" cy="0"/>
          </a:xfrm>
          <a:prstGeom prst="line">
            <a:avLst/>
          </a:prstGeom>
          <a:ln w="19050">
            <a:solidFill>
              <a:srgbClr val="FFC6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3236976"/>
            <a:ext cx="77724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 i="1">
                <a:solidFill>
                  <a:srgbClr val="D4A8B8"/>
                </a:solidFill>
                <a:latin typeface="Calibri"/>
              </a:rPr>
              <a:t>Topic 2: Agent pipeline with prompt engineering for automated hardware verification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858768"/>
            <a:ext cx="1920240" cy="438912"/>
          </a:xfrm>
          <a:prstGeom prst="rect">
            <a:avLst/>
          </a:prstGeom>
          <a:solidFill>
            <a:srgbClr val="6B1530"/>
          </a:solidFill>
          <a:ln w="12700">
            <a:solidFill>
              <a:srgbClr val="FFC6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858768"/>
            <a:ext cx="1920240" cy="43891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100" b="0" i="0">
                <a:solidFill>
                  <a:srgbClr val="FFC627"/>
                </a:solidFill>
                <a:latin typeface="Calibri"/>
              </a:rPr>
              <a:t>Codex CLI / gpt-5.4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39" y="3858768"/>
            <a:ext cx="1920240" cy="438912"/>
          </a:xfrm>
          <a:prstGeom prst="rect">
            <a:avLst/>
          </a:prstGeom>
          <a:solidFill>
            <a:srgbClr val="6B1530"/>
          </a:solidFill>
          <a:ln w="12700">
            <a:solidFill>
              <a:srgbClr val="FFC6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39" y="3858768"/>
            <a:ext cx="1920240" cy="43891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100" b="0" i="0">
                <a:solidFill>
                  <a:srgbClr val="FFC627"/>
                </a:solidFill>
                <a:latin typeface="Calibri"/>
              </a:rPr>
              <a:t>iverilog / vvp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59" y="3858768"/>
            <a:ext cx="1920240" cy="438912"/>
          </a:xfrm>
          <a:prstGeom prst="rect">
            <a:avLst/>
          </a:prstGeom>
          <a:solidFill>
            <a:srgbClr val="6B1530"/>
          </a:solidFill>
          <a:ln w="12700">
            <a:solidFill>
              <a:srgbClr val="FFC6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3858768"/>
            <a:ext cx="1920240" cy="43891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100" b="0" i="0">
                <a:solidFill>
                  <a:srgbClr val="FFC627"/>
                </a:solidFill>
                <a:latin typeface="Calibri"/>
              </a:rPr>
              <a:t>Python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12279" y="3858768"/>
            <a:ext cx="1920240" cy="438912"/>
          </a:xfrm>
          <a:prstGeom prst="rect">
            <a:avLst/>
          </a:prstGeom>
          <a:solidFill>
            <a:srgbClr val="6B1530"/>
          </a:solidFill>
          <a:ln w="12700">
            <a:solidFill>
              <a:srgbClr val="FFC6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79" y="3858768"/>
            <a:ext cx="1920240" cy="43891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100" b="0" i="0">
                <a:solidFill>
                  <a:srgbClr val="FFC627"/>
                </a:solidFill>
                <a:latin typeface="Calibri"/>
              </a:rPr>
              <a:t>ICLAD Benchmark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828032"/>
            <a:ext cx="3657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046720" cy="5943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0"/>
            <a:ext cx="365760" cy="5943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100" b="0" i="0">
                <a:solidFill>
                  <a:srgbClr val="D4A8B8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8C1D40"/>
                </a:solidFill>
                <a:latin typeface="Calibri"/>
              </a:rPr>
              <a:t>The ICLAD Verification Task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1152144"/>
            <a:ext cx="164592" cy="164592"/>
          </a:xfrm>
          <a:prstGeom prst="ellipse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06424"/>
            <a:ext cx="370332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2E2E2E"/>
                </a:solidFill>
                <a:latin typeface="Calibri"/>
              </a:rPr>
              <a:t>Each problem: one specification.md + 31 candidate RTL implementations (mutant_*.v).</a:t>
            </a:r>
          </a:p>
        </p:txBody>
      </p:sp>
      <p:sp>
        <p:nvSpPr>
          <p:cNvPr id="8" name="Oval 7"/>
          <p:cNvSpPr/>
          <p:nvPr/>
        </p:nvSpPr>
        <p:spPr>
          <a:xfrm>
            <a:off x="320040" y="1956816"/>
            <a:ext cx="164592" cy="164592"/>
          </a:xfrm>
          <a:prstGeom prst="ellipse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11095"/>
            <a:ext cx="370332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2E2E2E"/>
                </a:solidFill>
                <a:latin typeface="Calibri"/>
              </a:rPr>
              <a:t>Only one implementation is correct; the rest have injected bugs.</a:t>
            </a:r>
          </a:p>
        </p:txBody>
      </p:sp>
      <p:sp>
        <p:nvSpPr>
          <p:cNvPr id="10" name="Oval 9"/>
          <p:cNvSpPr/>
          <p:nvPr/>
        </p:nvSpPr>
        <p:spPr>
          <a:xfrm>
            <a:off x="320040" y="2761488"/>
            <a:ext cx="164592" cy="164592"/>
          </a:xfrm>
          <a:prstGeom prst="ellipse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15768"/>
            <a:ext cx="370332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2E2E2E"/>
                </a:solidFill>
                <a:latin typeface="Calibri"/>
              </a:rPr>
              <a:t>Agent must generate a self-checking Verilog testbench that passes only the correct design.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767328"/>
            <a:ext cx="3931920" cy="804672"/>
          </a:xfrm>
          <a:prstGeom prst="rect">
            <a:avLst/>
          </a:prstGeom>
          <a:solidFill>
            <a:srgbClr val="F8F4F5"/>
          </a:solidFill>
          <a:ln w="19050">
            <a:solidFill>
              <a:srgbClr val="8C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3822191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8C1D40"/>
                </a:solidFill>
                <a:latin typeface="Calibri"/>
              </a:rPr>
              <a:t>Scoring Metric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4069080"/>
            <a:ext cx="365760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 i="1">
                <a:solidFill>
                  <a:srgbClr val="2E2E2E"/>
                </a:solidFill>
                <a:latin typeface="Courier New"/>
              </a:rPr>
              <a:t>Score  =  1 / (# passing implementations)</a:t>
            </a:r>
          </a:p>
          <a:p>
            <a:pPr algn="l"/>
            <a:r>
              <a:rPr sz="1050" b="0" i="1">
                <a:solidFill>
                  <a:srgbClr val="2E2E2E"/>
                </a:solidFill>
                <a:latin typeface="Courier New"/>
              </a:rPr>
              <a:t>Ideal: exactly 1 of 31 passes  -&gt;  Score = 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713232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8C1D40"/>
                </a:solidFill>
                <a:latin typeface="Calibri"/>
              </a:rPr>
              <a:t>Discrimination Goal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115568"/>
            <a:ext cx="1920240" cy="5029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115568"/>
            <a:ext cx="1920240" cy="5029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specification.md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23560" y="1618488"/>
            <a:ext cx="0" cy="557784"/>
          </a:xfrm>
          <a:prstGeom prst="line">
            <a:avLst/>
          </a:prstGeom>
          <a:ln w="25400">
            <a:solidFill>
              <a:srgbClr val="FFC6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623560" y="2176272"/>
            <a:ext cx="411480" cy="0"/>
          </a:xfrm>
          <a:prstGeom prst="line">
            <a:avLst/>
          </a:prstGeom>
          <a:ln w="25400">
            <a:solidFill>
              <a:srgbClr val="FFC6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663440" y="2212848"/>
            <a:ext cx="2103120" cy="548640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2212848"/>
            <a:ext cx="2103120" cy="5486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Verification Agent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715000" y="2761488"/>
            <a:ext cx="0" cy="438912"/>
          </a:xfrm>
          <a:prstGeom prst="line">
            <a:avLst/>
          </a:prstGeom>
          <a:ln w="25400">
            <a:solidFill>
              <a:srgbClr val="FFC6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663440" y="3218688"/>
            <a:ext cx="2103120" cy="502920"/>
          </a:xfrm>
          <a:prstGeom prst="rect">
            <a:avLst/>
          </a:prstGeom>
          <a:solidFill>
            <a:srgbClr val="F8F4F5"/>
          </a:solidFill>
          <a:ln w="19050">
            <a:solidFill>
              <a:srgbClr val="8C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218688"/>
            <a:ext cx="2103120" cy="5029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000" b="1" i="0">
                <a:solidFill>
                  <a:srgbClr val="8C1D40"/>
                </a:solidFill>
                <a:latin typeface="Calibri"/>
              </a:rPr>
              <a:t>testbench.v  -&gt;  score: 1.0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1115568"/>
            <a:ext cx="1874519" cy="475488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1115568"/>
            <a:ext cx="1874519" cy="4754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mutant_0.v  correct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1682495"/>
            <a:ext cx="1874519" cy="475488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1682495"/>
            <a:ext cx="1874519" cy="4754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mutant_1.v  bug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2249424"/>
            <a:ext cx="1874519" cy="475488"/>
          </a:xfrm>
          <a:prstGeom prst="rect">
            <a:avLst/>
          </a:prstGeom>
          <a:solidFill>
            <a:srgbClr val="A9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2249424"/>
            <a:ext cx="1874519" cy="4754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mutant_2.v  bug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0" y="2816352"/>
            <a:ext cx="1874519" cy="475488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2816352"/>
            <a:ext cx="1874519" cy="47548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...  (31 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4828032"/>
            <a:ext cx="3657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046720" cy="5943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0"/>
            <a:ext cx="365760" cy="5943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100" b="0" i="0">
                <a:solidFill>
                  <a:srgbClr val="D4A8B8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49808"/>
            <a:ext cx="1874519" cy="347472"/>
          </a:xfrm>
          <a:prstGeom prst="rect">
            <a:avLst/>
          </a:prstGeom>
          <a:solidFill>
            <a:srgbClr val="F8F4F5"/>
          </a:solidFill>
          <a:ln w="19050">
            <a:solidFill>
              <a:srgbClr val="8C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749808"/>
            <a:ext cx="1874519" cy="34747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000" b="1" i="0">
                <a:solidFill>
                  <a:srgbClr val="8C1D40"/>
                </a:solidFill>
                <a:latin typeface="Calibri"/>
              </a:rPr>
              <a:t>specification.md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21408" y="923544"/>
            <a:ext cx="822960" cy="0"/>
          </a:xfrm>
          <a:prstGeom prst="line">
            <a:avLst/>
          </a:prstGeom>
          <a:ln w="19050">
            <a:solidFill>
              <a:srgbClr val="FFC6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926079" y="877824"/>
            <a:ext cx="91440" cy="91440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17520" y="749808"/>
            <a:ext cx="1920240" cy="347472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749808"/>
            <a:ext cx="1920240" cy="34747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parse_spec.txt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83480" y="923544"/>
            <a:ext cx="228600" cy="0"/>
          </a:xfrm>
          <a:prstGeom prst="line">
            <a:avLst/>
          </a:prstGeom>
          <a:ln w="19050">
            <a:solidFill>
              <a:srgbClr val="FFC6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193792" y="877824"/>
            <a:ext cx="91440" cy="91440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85232" y="749808"/>
            <a:ext cx="182880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85232" y="749808"/>
            <a:ext cx="1828800" cy="34747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parsed_spec.json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99632" y="1097280"/>
            <a:ext cx="0" cy="237744"/>
          </a:xfrm>
          <a:prstGeom prst="line">
            <a:avLst/>
          </a:prstGeom>
          <a:ln w="19050">
            <a:solidFill>
              <a:srgbClr val="FFC6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153912" y="1316736"/>
            <a:ext cx="91440" cy="91440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17520" y="1408176"/>
            <a:ext cx="1920240" cy="347472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1408176"/>
            <a:ext cx="1920240" cy="34747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gen_testplan.txt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83480" y="1581912"/>
            <a:ext cx="228600" cy="0"/>
          </a:xfrm>
          <a:prstGeom prst="line">
            <a:avLst/>
          </a:prstGeom>
          <a:ln w="19050">
            <a:solidFill>
              <a:srgbClr val="FFC6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193792" y="1536192"/>
            <a:ext cx="91440" cy="91440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85232" y="1408176"/>
            <a:ext cx="182880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85232" y="1408176"/>
            <a:ext cx="1828800" cy="34747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test_plan.json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99632" y="1755648"/>
            <a:ext cx="0" cy="155447"/>
          </a:xfrm>
          <a:prstGeom prst="line">
            <a:avLst/>
          </a:prstGeom>
          <a:ln w="19050">
            <a:solidFill>
              <a:srgbClr val="FFC6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977639" y="1911095"/>
            <a:ext cx="2221993" cy="0"/>
          </a:xfrm>
          <a:prstGeom prst="line">
            <a:avLst/>
          </a:prstGeom>
          <a:ln w="19050">
            <a:solidFill>
              <a:srgbClr val="FFC6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977639" y="1911095"/>
            <a:ext cx="0" cy="82296"/>
          </a:xfrm>
          <a:prstGeom prst="line">
            <a:avLst/>
          </a:prstGeom>
          <a:ln w="19050">
            <a:solidFill>
              <a:srgbClr val="FFC6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931920" y="1975103"/>
            <a:ext cx="91440" cy="91440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1168" y="2066543"/>
            <a:ext cx="1874519" cy="347472"/>
          </a:xfrm>
          <a:prstGeom prst="rect">
            <a:avLst/>
          </a:prstGeom>
          <a:solidFill>
            <a:srgbClr val="F8F4F5"/>
          </a:solidFill>
          <a:ln w="19050">
            <a:solidFill>
              <a:srgbClr val="8C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1168" y="2066543"/>
            <a:ext cx="1874519" cy="34747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900" b="1" i="0">
                <a:solidFill>
                  <a:srgbClr val="8C1D40"/>
                </a:solidFill>
                <a:latin typeface="Calibri"/>
              </a:rPr>
              <a:t>spec.md + parsed_spec</a:t>
            </a:r>
          </a:p>
          <a:p>
            <a:pPr algn="ctr"/>
            <a:r>
              <a:rPr sz="900" b="1" i="0">
                <a:solidFill>
                  <a:srgbClr val="8C1D40"/>
                </a:solidFill>
                <a:latin typeface="Calibri"/>
              </a:rPr>
              <a:t>+ test_plan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21408" y="2240279"/>
            <a:ext cx="822960" cy="0"/>
          </a:xfrm>
          <a:prstGeom prst="line">
            <a:avLst/>
          </a:prstGeom>
          <a:ln w="19050">
            <a:solidFill>
              <a:srgbClr val="FFC6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926079" y="2194560"/>
            <a:ext cx="91440" cy="91440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17520" y="2066543"/>
            <a:ext cx="1920240" cy="347472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2066543"/>
            <a:ext cx="1920240" cy="34747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gen_testbench.txt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85232" y="2066543"/>
            <a:ext cx="1828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1">
                <a:solidFill>
                  <a:srgbClr val="6B6B6B"/>
                </a:solidFill>
                <a:latin typeface="Calibri"/>
              </a:rPr>
              <a:t>(or gen_testbench_protocol.txt</a:t>
            </a:r>
          </a:p>
          <a:p>
            <a:pPr algn="l"/>
            <a:r>
              <a:rPr sz="850" b="0" i="1">
                <a:solidFill>
                  <a:srgbClr val="6B6B6B"/>
                </a:solidFill>
                <a:latin typeface="Calibri"/>
              </a:rPr>
              <a:t>  if FIFO / CDC / credit module)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977639" y="2414015"/>
            <a:ext cx="0" cy="310897"/>
          </a:xfrm>
          <a:prstGeom prst="line">
            <a:avLst/>
          </a:prstGeom>
          <a:ln w="19050">
            <a:solidFill>
              <a:srgbClr val="FFC6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3931920" y="2706624"/>
            <a:ext cx="91440" cy="91440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017520" y="2798064"/>
            <a:ext cx="1920240" cy="347472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17520" y="2798064"/>
            <a:ext cx="1920240" cy="34747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tb/&lt;name&gt;_tb.v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977639" y="3145536"/>
            <a:ext cx="0" cy="219455"/>
          </a:xfrm>
          <a:prstGeom prst="line">
            <a:avLst/>
          </a:prstGeom>
          <a:ln w="19050">
            <a:solidFill>
              <a:srgbClr val="FFC6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3931920" y="3346703"/>
            <a:ext cx="91440" cy="91440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017520" y="3438144"/>
            <a:ext cx="1920240" cy="347472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20" y="3438144"/>
            <a:ext cx="1920240" cy="34747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iverilog + vvp simulation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983480" y="3611879"/>
            <a:ext cx="228600" cy="0"/>
          </a:xfrm>
          <a:prstGeom prst="line">
            <a:avLst/>
          </a:prstGeom>
          <a:ln w="19050">
            <a:solidFill>
              <a:srgbClr val="FFC6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5193792" y="3566160"/>
            <a:ext cx="91440" cy="91440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74336" y="3355848"/>
            <a:ext cx="310896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0" i="1">
                <a:solidFill>
                  <a:srgbClr val="6B6B6B"/>
                </a:solidFill>
                <a:latin typeface="Calibri"/>
              </a:rPr>
              <a:t>if compile fails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85232" y="3438144"/>
            <a:ext cx="1828800" cy="347472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85232" y="3438144"/>
            <a:ext cx="1828800" cy="34747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repair_testbench.txt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" y="4078224"/>
            <a:ext cx="256032" cy="182880"/>
          </a:xfrm>
          <a:prstGeom prst="rect">
            <a:avLst/>
          </a:prstGeom>
          <a:solidFill>
            <a:srgbClr val="F8F4F5"/>
          </a:solidFill>
          <a:ln w="12700">
            <a:solidFill>
              <a:srgbClr val="8C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3776" y="4078224"/>
            <a:ext cx="13716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Input file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38528" y="4078224"/>
            <a:ext cx="256032" cy="18288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31136" y="4078224"/>
            <a:ext cx="13716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Prompt (.txt)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75887" y="4078224"/>
            <a:ext cx="256032" cy="1828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68496" y="4078224"/>
            <a:ext cx="13716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Structured output (.json)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13247" y="4078224"/>
            <a:ext cx="256032" cy="1828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05855" y="4078224"/>
            <a:ext cx="13716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Generated Verilog (.v)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50607" y="4078224"/>
            <a:ext cx="256032" cy="182880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43215" y="4078224"/>
            <a:ext cx="13716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Repair path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4782312"/>
            <a:ext cx="8503920" cy="32918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050" b="0" i="1">
                <a:solidFill>
                  <a:srgbClr val="FFC627"/>
                </a:solidFill>
                <a:latin typeface="Calibri"/>
              </a:rPr>
              <a:t>Repair if compile fails  *  Refine if score &lt; 1.0  *  Rescue refinement if all mutants fail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4828032"/>
            <a:ext cx="3657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046720" cy="5943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Prompt Engineering Strategy  -  The Core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0"/>
            <a:ext cx="365760" cy="5943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100" b="0" i="0">
                <a:solidFill>
                  <a:srgbClr val="D4A8B8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85039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1">
                <a:solidFill>
                  <a:srgbClr val="8C1D40"/>
                </a:solidFill>
                <a:latin typeface="Calibri"/>
              </a:rPr>
              <a:t>The key insight: don't just generate valid Verilog - generate a trustworthy oracle.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2651760" cy="1938528"/>
          </a:xfrm>
          <a:prstGeom prst="rect">
            <a:avLst/>
          </a:prstGeom>
          <a:solidFill>
            <a:srgbClr val="F8F4F5"/>
          </a:solidFill>
          <a:ln w="9525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2651760" cy="347472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05840"/>
            <a:ext cx="2651760" cy="34747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1. Structured Spec Parsing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408176"/>
            <a:ext cx="24688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2E2E2E"/>
                </a:solidFill>
                <a:latin typeface="Calibri"/>
              </a:rPr>
              <a:t>Parser forces Codex to separate: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700784"/>
            <a:ext cx="24688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* guaranteed_properties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993392"/>
            <a:ext cx="24688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* ambiguous_properties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286000"/>
            <a:ext cx="24688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* forbidden_assumptions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578608"/>
            <a:ext cx="24688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Foundation for safe oracle generation.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1005840"/>
            <a:ext cx="2651760" cy="1938528"/>
          </a:xfrm>
          <a:prstGeom prst="rect">
            <a:avLst/>
          </a:prstGeom>
          <a:solidFill>
            <a:srgbClr val="F8F4F5"/>
          </a:solidFill>
          <a:ln w="9525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54680" y="1005840"/>
            <a:ext cx="2651760" cy="347472"/>
          </a:xfrm>
          <a:prstGeom prst="rect">
            <a:avLst/>
          </a:prstGeom>
          <a:solidFill>
            <a:srgbClr val="5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1005840"/>
            <a:ext cx="2651760" cy="34747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2. Oracle-Style 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1408176"/>
            <a:ext cx="24688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2E2E2E"/>
                </a:solidFill>
                <a:latin typeface="Calibri"/>
              </a:rPr>
              <a:t>Each problem routed to one of: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1700784"/>
            <a:ext cx="24688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* formula - combinational mappings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1993392"/>
            <a:ext cx="24688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* cycle_accurate - simple sequential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2286000"/>
            <a:ext cx="24688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* protocol_invariant - FIFO/CDC/credit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2578608"/>
            <a:ext cx="24688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Prevents overconfident assertions.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1005840"/>
            <a:ext cx="2651760" cy="1938528"/>
          </a:xfrm>
          <a:prstGeom prst="rect">
            <a:avLst/>
          </a:prstGeom>
          <a:solidFill>
            <a:srgbClr val="F8F4F5"/>
          </a:solidFill>
          <a:ln w="9525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9320" y="1005840"/>
            <a:ext cx="265176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1005840"/>
            <a:ext cx="2651760" cy="34747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3. Safe vs. Unsafe Checks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59" y="1408176"/>
            <a:ext cx="24688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2E2E2E"/>
                </a:solidFill>
                <a:latin typeface="Calibri"/>
              </a:rPr>
              <a:t>Test plan explicitly produces: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59" y="1700784"/>
            <a:ext cx="24688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* safe_checks - grounded assertions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59" y="1993392"/>
            <a:ext cx="24688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* unsafe_checks - avoid these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59" y="2286000"/>
            <a:ext cx="24688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Stops testbench from rejecting the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59" y="2578608"/>
            <a:ext cx="24688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correct implementation by accident.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035808"/>
            <a:ext cx="4160520" cy="914400"/>
          </a:xfrm>
          <a:prstGeom prst="rect">
            <a:avLst/>
          </a:prstGeom>
          <a:solidFill>
            <a:srgbClr val="F8F4F5"/>
          </a:solidFill>
          <a:ln w="9525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035808"/>
            <a:ext cx="4160520" cy="320040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035808"/>
            <a:ext cx="4160520" cy="3200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4. Protocol-Specific Prompting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" y="3447288"/>
            <a:ext cx="3941063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  <a:latin typeface="Calibri"/>
              </a:rPr>
              <a:t>Dedicated prompt (gen_testbench_protocol.txt) instructs Codex to avoid: exact CDC latency, exact counter arithmetic, exact queue-depth equalities, bounded credit-pulse windows unless the spec explicitly guarantees them.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9159" y="3035808"/>
            <a:ext cx="4160520" cy="914400"/>
          </a:xfrm>
          <a:prstGeom prst="rect">
            <a:avLst/>
          </a:prstGeom>
          <a:solidFill>
            <a:srgbClr val="F8F4F5"/>
          </a:solidFill>
          <a:ln w="9525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9159" y="3035808"/>
            <a:ext cx="4160520" cy="3200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59" y="3035808"/>
            <a:ext cx="4160520" cy="3200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5. Repair-Mode &amp; Guardrail Regen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18888" y="3447288"/>
            <a:ext cx="3941063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2E2E2E"/>
                </a:solidFill>
                <a:latin typeface="Calibri"/>
              </a:rPr>
              <a:t>repair_testbench.txt is separate from generation - keeps compile fixes focused on simplifying an over-strong oracle. Guardrail check screens for unsafe bounded-wait patterns before simulation; triggers regeneration if found.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4773168"/>
            <a:ext cx="8503920" cy="34747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100" b="1" i="1">
                <a:solidFill>
                  <a:srgbClr val="FFC627"/>
                </a:solidFill>
                <a:latin typeface="Calibri"/>
              </a:rPr>
              <a:t>Impact: counter went from failing to score = 1.0 after ambiguity-aware prompt refinement.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4828032"/>
            <a:ext cx="3657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046720" cy="5943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0"/>
            <a:ext cx="365760" cy="5943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100" b="0" i="0">
                <a:solidFill>
                  <a:srgbClr val="D4A8B8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 i="1">
                <a:solidFill>
                  <a:srgbClr val="6B6B6B"/>
                </a:solidFill>
                <a:latin typeface="Calibri"/>
              </a:rPr>
              <a:t>10 visible benchmark problems evaluated  *  Average score: 0.7  *  1 iteration each, 31 mutants per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69264"/>
            <a:ext cx="1371600" cy="265176"/>
          </a:xfrm>
          <a:prstGeom prst="rect">
            <a:avLst/>
          </a:prstGeom>
          <a:solidFill>
            <a:srgbClr val="8C1D40"/>
          </a:solidFill>
          <a:ln w="12700">
            <a:solidFill>
              <a:srgbClr val="8C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69264"/>
            <a:ext cx="137160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9072" y="969264"/>
            <a:ext cx="1252728" cy="265176"/>
          </a:xfrm>
          <a:prstGeom prst="rect">
            <a:avLst/>
          </a:prstGeom>
          <a:solidFill>
            <a:srgbClr val="8C1D40"/>
          </a:solidFill>
          <a:ln w="12700">
            <a:solidFill>
              <a:srgbClr val="8C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9072" y="969264"/>
            <a:ext cx="125272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99232" y="969264"/>
            <a:ext cx="1106424" cy="265176"/>
          </a:xfrm>
          <a:prstGeom prst="rect">
            <a:avLst/>
          </a:prstGeom>
          <a:solidFill>
            <a:srgbClr val="8C1D40"/>
          </a:solidFill>
          <a:ln w="12700">
            <a:solidFill>
              <a:srgbClr val="8C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969264"/>
            <a:ext cx="1106424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Passing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33087" y="969264"/>
            <a:ext cx="1069848" cy="265176"/>
          </a:xfrm>
          <a:prstGeom prst="rect">
            <a:avLst/>
          </a:prstGeom>
          <a:solidFill>
            <a:srgbClr val="8C1D40"/>
          </a:solidFill>
          <a:ln w="12700">
            <a:solidFill>
              <a:srgbClr val="8C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33087" y="969264"/>
            <a:ext cx="106984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30368" y="969264"/>
            <a:ext cx="978408" cy="265176"/>
          </a:xfrm>
          <a:prstGeom prst="rect">
            <a:avLst/>
          </a:prstGeom>
          <a:solidFill>
            <a:srgbClr val="8C1D40"/>
          </a:solidFill>
          <a:ln w="12700">
            <a:solidFill>
              <a:srgbClr val="8C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0368" y="969264"/>
            <a:ext cx="97840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Compile</a:t>
            </a:r>
          </a:p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Errors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969264"/>
            <a:ext cx="685800" cy="265176"/>
          </a:xfrm>
          <a:prstGeom prst="rect">
            <a:avLst/>
          </a:prstGeom>
          <a:solidFill>
            <a:srgbClr val="8C1D40"/>
          </a:solidFill>
          <a:ln w="12700">
            <a:solidFill>
              <a:srgbClr val="8C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969264"/>
            <a:ext cx="68580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Oracle</a:t>
            </a:r>
          </a:p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969264"/>
            <a:ext cx="1874519" cy="265176"/>
          </a:xfrm>
          <a:prstGeom prst="rect">
            <a:avLst/>
          </a:prstGeom>
          <a:solidFill>
            <a:srgbClr val="8C1D40"/>
          </a:solidFill>
          <a:ln w="12700">
            <a:solidFill>
              <a:srgbClr val="8C1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969264"/>
            <a:ext cx="1874519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Outcome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1234440"/>
            <a:ext cx="1371600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19072" y="1234440"/>
            <a:ext cx="1252728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99232" y="1234440"/>
            <a:ext cx="1106424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33087" y="1234440"/>
            <a:ext cx="1069848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30368" y="1234440"/>
            <a:ext cx="978408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6208" y="1234440"/>
            <a:ext cx="685800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49440" y="1234440"/>
            <a:ext cx="1874519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1234440"/>
            <a:ext cx="137160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2E2E2E"/>
                </a:solidFill>
                <a:latin typeface="Calibri"/>
              </a:rPr>
              <a:t>ecc_sed_encoder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19072" y="1234440"/>
            <a:ext cx="125272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E2E2E"/>
                </a:solidFill>
                <a:latin typeface="Calibri"/>
              </a:rPr>
              <a:t>Comb.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99232" y="1234440"/>
            <a:ext cx="1106424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D7D46"/>
                </a:solidFill>
                <a:latin typeface="Calibri"/>
              </a:rPr>
              <a:t>1/31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33087" y="1234440"/>
            <a:ext cx="106984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2D7D46"/>
                </a:solidFill>
                <a:latin typeface="Calibri"/>
              </a:rPr>
              <a:t>1.0000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0368" y="1234440"/>
            <a:ext cx="97840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E2E2E"/>
                </a:solidFill>
                <a:latin typeface="Calibri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1234440"/>
            <a:ext cx="68580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E2E2E"/>
                </a:solidFill>
                <a:latin typeface="Calibri"/>
              </a:rPr>
              <a:t>formula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1234440"/>
            <a:ext cx="1874519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2D7D46"/>
                </a:solidFill>
                <a:latin typeface="Calibri"/>
              </a:rPr>
              <a:t>Score = 1.0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1499616"/>
            <a:ext cx="1371600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719072" y="1499616"/>
            <a:ext cx="1252728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999232" y="1499616"/>
            <a:ext cx="1106424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33087" y="1499616"/>
            <a:ext cx="1069848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230368" y="1499616"/>
            <a:ext cx="978408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36208" y="1499616"/>
            <a:ext cx="685800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949440" y="1499616"/>
            <a:ext cx="1874519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1499616"/>
            <a:ext cx="137160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2E2E2E"/>
                </a:solidFill>
                <a:latin typeface="Calibri"/>
              </a:rPr>
              <a:t>enc_bin2gray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19072" y="1499616"/>
            <a:ext cx="125272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E2E2E"/>
                </a:solidFill>
                <a:latin typeface="Calibri"/>
              </a:rPr>
              <a:t>Comb.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99232" y="1499616"/>
            <a:ext cx="1106424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D7D46"/>
                </a:solidFill>
                <a:latin typeface="Calibri"/>
              </a:rPr>
              <a:t>1/31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33087" y="1499616"/>
            <a:ext cx="106984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2D7D46"/>
                </a:solidFill>
                <a:latin typeface="Calibri"/>
              </a:rPr>
              <a:t>1.0000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30368" y="1499616"/>
            <a:ext cx="97840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E2E2E"/>
                </a:solidFill>
                <a:latin typeface="Calibri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36208" y="1499616"/>
            <a:ext cx="68580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E2E2E"/>
                </a:solidFill>
                <a:latin typeface="Calibri"/>
              </a:rPr>
              <a:t>formula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1499616"/>
            <a:ext cx="1874519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2D7D46"/>
                </a:solidFill>
                <a:latin typeface="Calibri"/>
              </a:rPr>
              <a:t>Score = 1.0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1764792"/>
            <a:ext cx="1371600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719072" y="1764792"/>
            <a:ext cx="1252728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999232" y="1764792"/>
            <a:ext cx="1106424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33087" y="1764792"/>
            <a:ext cx="1069848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30368" y="1764792"/>
            <a:ext cx="978408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36208" y="1764792"/>
            <a:ext cx="685800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49440" y="1764792"/>
            <a:ext cx="1874519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1764792"/>
            <a:ext cx="137160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2E2E2E"/>
                </a:solidFill>
                <a:latin typeface="Calibri"/>
              </a:rPr>
              <a:t>enc_bin2onehot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19072" y="1764792"/>
            <a:ext cx="125272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E2E2E"/>
                </a:solidFill>
                <a:latin typeface="Calibri"/>
              </a:rPr>
              <a:t>Comb.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99232" y="1764792"/>
            <a:ext cx="1106424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D7D46"/>
                </a:solidFill>
                <a:latin typeface="Calibri"/>
              </a:rPr>
              <a:t>1/31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33087" y="1764792"/>
            <a:ext cx="106984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2D7D46"/>
                </a:solidFill>
                <a:latin typeface="Calibri"/>
              </a:rPr>
              <a:t>1.0000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30368" y="1764792"/>
            <a:ext cx="97840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E2E2E"/>
                </a:solidFill>
                <a:latin typeface="Calibri"/>
              </a:rP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36208" y="1764792"/>
            <a:ext cx="68580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E2E2E"/>
                </a:solidFill>
                <a:latin typeface="Calibri"/>
              </a:rPr>
              <a:t>formula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49440" y="1764792"/>
            <a:ext cx="1874519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2D7D46"/>
                </a:solidFill>
                <a:latin typeface="Calibri"/>
              </a:rPr>
              <a:t>Score = 1.0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2029967"/>
            <a:ext cx="1371600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719072" y="2029967"/>
            <a:ext cx="1252728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999232" y="2029967"/>
            <a:ext cx="1106424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133087" y="2029967"/>
            <a:ext cx="1069848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230368" y="2029967"/>
            <a:ext cx="978408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36208" y="2029967"/>
            <a:ext cx="685800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949440" y="2029967"/>
            <a:ext cx="1874519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2029967"/>
            <a:ext cx="137160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2E2E2E"/>
                </a:solidFill>
                <a:latin typeface="Calibri"/>
              </a:rPr>
              <a:t>lfsr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19072" y="2029967"/>
            <a:ext cx="125272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E2E2E"/>
                </a:solidFill>
                <a:latin typeface="Calibri"/>
              </a:rPr>
              <a:t>Seq.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99232" y="2029967"/>
            <a:ext cx="1106424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D7D46"/>
                </a:solidFill>
                <a:latin typeface="Calibri"/>
              </a:rPr>
              <a:t>1/31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33087" y="2029967"/>
            <a:ext cx="106984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2D7D46"/>
                </a:solidFill>
                <a:latin typeface="Calibri"/>
              </a:rPr>
              <a:t>1.0000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30368" y="2029967"/>
            <a:ext cx="97840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E2E2E"/>
                </a:solidFill>
                <a:latin typeface="Calibri"/>
              </a:rPr>
              <a:t>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36208" y="2029967"/>
            <a:ext cx="68580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E2E2E"/>
                </a:solidFill>
                <a:latin typeface="Calibri"/>
              </a:rPr>
              <a:t>cycle-acc.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49440" y="2029967"/>
            <a:ext cx="1874519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2D7D46"/>
                </a:solidFill>
                <a:latin typeface="Calibri"/>
              </a:rPr>
              <a:t>Score = 1.0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2295144"/>
            <a:ext cx="1371600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719072" y="2295144"/>
            <a:ext cx="1252728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999232" y="2295144"/>
            <a:ext cx="1106424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133087" y="2295144"/>
            <a:ext cx="1069848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230368" y="2295144"/>
            <a:ext cx="978408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236208" y="2295144"/>
            <a:ext cx="685800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49440" y="2295144"/>
            <a:ext cx="1874519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20040" y="2295144"/>
            <a:ext cx="137160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2E2E2E"/>
                </a:solidFill>
                <a:latin typeface="Calibri"/>
              </a:rPr>
              <a:t>shift_left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719072" y="2295144"/>
            <a:ext cx="125272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E2E2E"/>
                </a:solidFill>
                <a:latin typeface="Calibri"/>
              </a:rPr>
              <a:t>Comb.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999232" y="2295144"/>
            <a:ext cx="1106424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D7D46"/>
                </a:solidFill>
                <a:latin typeface="Calibri"/>
              </a:rPr>
              <a:t>1/31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33087" y="2295144"/>
            <a:ext cx="106984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2D7D46"/>
                </a:solidFill>
                <a:latin typeface="Calibri"/>
              </a:rPr>
              <a:t>1.0000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230368" y="2295144"/>
            <a:ext cx="97840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E2E2E"/>
                </a:solidFill>
                <a:latin typeface="Calibri"/>
              </a:rP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36208" y="2295144"/>
            <a:ext cx="68580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E2E2E"/>
                </a:solidFill>
                <a:latin typeface="Calibri"/>
              </a:rPr>
              <a:t>formula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49440" y="2295144"/>
            <a:ext cx="1874519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2D7D46"/>
                </a:solidFill>
                <a:latin typeface="Calibri"/>
              </a:rPr>
              <a:t>Score = 1.0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2560320"/>
            <a:ext cx="1371600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719072" y="2560320"/>
            <a:ext cx="1252728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999232" y="2560320"/>
            <a:ext cx="1106424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133087" y="2560320"/>
            <a:ext cx="1069848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230368" y="2560320"/>
            <a:ext cx="978408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236208" y="2560320"/>
            <a:ext cx="685800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949440" y="2560320"/>
            <a:ext cx="1874519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20040" y="2560320"/>
            <a:ext cx="137160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2E2E2E"/>
                </a:solidFill>
                <a:latin typeface="Calibri"/>
              </a:rPr>
              <a:t>shift_right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719072" y="2560320"/>
            <a:ext cx="125272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E2E2E"/>
                </a:solidFill>
                <a:latin typeface="Calibri"/>
              </a:rPr>
              <a:t>Comb.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999232" y="2560320"/>
            <a:ext cx="1106424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D7D46"/>
                </a:solidFill>
                <a:latin typeface="Calibri"/>
              </a:rPr>
              <a:t>1/31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33087" y="2560320"/>
            <a:ext cx="106984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2D7D46"/>
                </a:solidFill>
                <a:latin typeface="Calibri"/>
              </a:rPr>
              <a:t>1.0000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230368" y="2560320"/>
            <a:ext cx="97840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E2E2E"/>
                </a:solidFill>
                <a:latin typeface="Calibri"/>
              </a:rP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36208" y="2560320"/>
            <a:ext cx="68580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E2E2E"/>
                </a:solidFill>
                <a:latin typeface="Calibri"/>
              </a:rPr>
              <a:t>formula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949440" y="2560320"/>
            <a:ext cx="1874519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2D7D46"/>
                </a:solidFill>
                <a:latin typeface="Calibri"/>
              </a:rPr>
              <a:t>Score = 1.0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20040" y="2825496"/>
            <a:ext cx="1371600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719072" y="2825496"/>
            <a:ext cx="1252728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999232" y="2825496"/>
            <a:ext cx="1106424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133087" y="2825496"/>
            <a:ext cx="1069848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230368" y="2825496"/>
            <a:ext cx="978408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236208" y="2825496"/>
            <a:ext cx="685800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949440" y="2825496"/>
            <a:ext cx="1874519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20040" y="2825496"/>
            <a:ext cx="137160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2E2E2E"/>
                </a:solidFill>
                <a:latin typeface="Calibri"/>
              </a:rPr>
              <a:t>counter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719072" y="2825496"/>
            <a:ext cx="125272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E2E2E"/>
                </a:solidFill>
                <a:latin typeface="Calibri"/>
              </a:rPr>
              <a:t>Seq.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999232" y="2825496"/>
            <a:ext cx="1106424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D7D46"/>
                </a:solidFill>
                <a:latin typeface="Calibri"/>
              </a:rPr>
              <a:t>1/31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133087" y="2825496"/>
            <a:ext cx="106984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2D7D46"/>
                </a:solidFill>
                <a:latin typeface="Calibri"/>
              </a:rPr>
              <a:t>1.0000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230368" y="2825496"/>
            <a:ext cx="97840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E2E2E"/>
                </a:solidFill>
                <a:latin typeface="Calibri"/>
              </a:rPr>
              <a:t>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236208" y="2825496"/>
            <a:ext cx="68580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E2E2E"/>
                </a:solidFill>
                <a:latin typeface="Calibri"/>
              </a:rPr>
              <a:t>cycle-acc.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49440" y="2825496"/>
            <a:ext cx="1874519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2D7D46"/>
                </a:solidFill>
                <a:latin typeface="Calibri"/>
              </a:rPr>
              <a:t>Score = 1.0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20040" y="3090672"/>
            <a:ext cx="1371600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719072" y="3090672"/>
            <a:ext cx="1252728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999232" y="3090672"/>
            <a:ext cx="1106424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133087" y="3090672"/>
            <a:ext cx="1069848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5230368" y="3090672"/>
            <a:ext cx="978408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236208" y="3090672"/>
            <a:ext cx="685800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6949440" y="3090672"/>
            <a:ext cx="1874519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20040" y="3090672"/>
            <a:ext cx="137160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2E2E2E"/>
                </a:solidFill>
                <a:latin typeface="Calibri"/>
              </a:rPr>
              <a:t>credit_receiver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719072" y="3090672"/>
            <a:ext cx="125272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E2E2E"/>
                </a:solidFill>
                <a:latin typeface="Calibri"/>
              </a:rPr>
              <a:t>Proto.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999232" y="3090672"/>
            <a:ext cx="1106424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0/31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133087" y="3090672"/>
            <a:ext cx="106984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  <a:latin typeface="Calibri"/>
              </a:rPr>
              <a:t>0.0000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230368" y="3090672"/>
            <a:ext cx="97840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E2E2E"/>
                </a:solidFill>
                <a:latin typeface="Calibri"/>
              </a:rPr>
              <a:t>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236208" y="3090672"/>
            <a:ext cx="68580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E2E2E"/>
                </a:solidFill>
                <a:latin typeface="Calibri"/>
              </a:rPr>
              <a:t>proto_inv.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949440" y="3090672"/>
            <a:ext cx="1874519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  <a:latin typeface="Calibri"/>
              </a:rPr>
              <a:t>Oracle failure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20040" y="3355848"/>
            <a:ext cx="1371600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719072" y="3355848"/>
            <a:ext cx="1252728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999232" y="3355848"/>
            <a:ext cx="1106424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133087" y="3355848"/>
            <a:ext cx="1069848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5230368" y="3355848"/>
            <a:ext cx="978408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6236208" y="3355848"/>
            <a:ext cx="685800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6949440" y="3355848"/>
            <a:ext cx="1874519" cy="265176"/>
          </a:xfrm>
          <a:prstGeom prst="rect">
            <a:avLst/>
          </a:prstGeom>
          <a:solidFill>
            <a:srgbClr val="F8F4F5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20040" y="3355848"/>
            <a:ext cx="137160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2E2E2E"/>
                </a:solidFill>
                <a:latin typeface="Calibri"/>
              </a:rPr>
              <a:t>fifo_flops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719072" y="3355848"/>
            <a:ext cx="125272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E2E2E"/>
                </a:solidFill>
                <a:latin typeface="Calibri"/>
              </a:rPr>
              <a:t>Proto.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999232" y="3355848"/>
            <a:ext cx="1106424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0/31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133087" y="3355848"/>
            <a:ext cx="106984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  <a:latin typeface="Calibri"/>
              </a:rPr>
              <a:t>0.0000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230368" y="3355848"/>
            <a:ext cx="97840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E2E2E"/>
                </a:solidFill>
                <a:latin typeface="Calibri"/>
              </a:rP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236208" y="3355848"/>
            <a:ext cx="68580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E2E2E"/>
                </a:solidFill>
                <a:latin typeface="Calibri"/>
              </a:rPr>
              <a:t>proto_inv.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949440" y="3355848"/>
            <a:ext cx="1874519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  <a:latin typeface="Calibri"/>
              </a:rPr>
              <a:t>Oracle failure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320040" y="3621024"/>
            <a:ext cx="1371600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719072" y="3621024"/>
            <a:ext cx="1252728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2999232" y="3621024"/>
            <a:ext cx="1106424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4133087" y="3621024"/>
            <a:ext cx="1069848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230368" y="3621024"/>
            <a:ext cx="978408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236208" y="3621024"/>
            <a:ext cx="685800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949440" y="3621024"/>
            <a:ext cx="1874519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20040" y="3621024"/>
            <a:ext cx="137160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2E2E2E"/>
                </a:solidFill>
                <a:latin typeface="Calibri"/>
              </a:rPr>
              <a:t>cdc_fifo_flops_push_credit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719072" y="3621024"/>
            <a:ext cx="125272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E2E2E"/>
                </a:solidFill>
                <a:latin typeface="Calibri"/>
              </a:rPr>
              <a:t>Proto.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999232" y="3621024"/>
            <a:ext cx="1106424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0/31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133087" y="3621024"/>
            <a:ext cx="106984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  <a:latin typeface="Calibri"/>
              </a:rPr>
              <a:t>0.0000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230368" y="3621024"/>
            <a:ext cx="978408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E2E2E"/>
                </a:solidFill>
                <a:latin typeface="Calibri"/>
              </a:rPr>
              <a:t>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236208" y="3621024"/>
            <a:ext cx="68580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2E2E2E"/>
                </a:solidFill>
                <a:latin typeface="Calibri"/>
              </a:rPr>
              <a:t>proto_inv.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949440" y="3621024"/>
            <a:ext cx="1874519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  <a:latin typeface="Calibri"/>
              </a:rPr>
              <a:t>Oracle failure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20040" y="3941063"/>
            <a:ext cx="1938528" cy="658368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20040" y="3941063"/>
            <a:ext cx="1938528" cy="365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7 / 10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20040" y="4288536"/>
            <a:ext cx="1938528" cy="29260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Problems Solved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(Score = 1.0)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441448" y="3941063"/>
            <a:ext cx="1938528" cy="6583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441448" y="3941063"/>
            <a:ext cx="1938528" cy="365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441448" y="4288536"/>
            <a:ext cx="1938528" cy="29260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Compile Failures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on solved set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562856" y="3941063"/>
            <a:ext cx="1938528" cy="658368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562856" y="3941063"/>
            <a:ext cx="1938528" cy="365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0.7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562856" y="4288536"/>
            <a:ext cx="1938528" cy="29260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Average Score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across all 10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684264" y="3941063"/>
            <a:ext cx="1938528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684264" y="3941063"/>
            <a:ext cx="1938528" cy="365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684264" y="4288536"/>
            <a:ext cx="1938528" cy="29260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Protocol Cases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Still Open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595360" y="4828032"/>
            <a:ext cx="3657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046720" cy="5943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What Worked, What's Hard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0"/>
            <a:ext cx="365760" cy="5943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100" b="0" i="0">
                <a:solidFill>
                  <a:srgbClr val="D4A8B8"/>
                </a:solidFill>
                <a:latin typeface="Calibri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85800"/>
            <a:ext cx="2743200" cy="4160520"/>
          </a:xfrm>
          <a:prstGeom prst="rect">
            <a:avLst/>
          </a:prstGeom>
          <a:solidFill>
            <a:srgbClr val="F8F4F5"/>
          </a:solidFill>
          <a:ln w="9525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685800"/>
            <a:ext cx="2743200" cy="36576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85800"/>
            <a:ext cx="2743200" cy="365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What Worked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" y="1161288"/>
            <a:ext cx="54864" cy="713232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61288"/>
            <a:ext cx="24231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2E2E2E"/>
                </a:solidFill>
                <a:latin typeface="Calibri"/>
              </a:rPr>
              <a:t>Strong on formula / cycle-accurate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242316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7/10 visible problems -&gt; score = 1.0 with zero compile failures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" y="2057400"/>
            <a:ext cx="54864" cy="713232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57400"/>
            <a:ext cx="24231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2E2E2E"/>
                </a:solidFill>
                <a:latin typeface="Calibri"/>
              </a:rPr>
              <a:t>counter recovered via prompt fix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13432"/>
            <a:ext cx="242316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Ambiguity-aware parsing turned a formerly failing case to 1/31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" y="2953512"/>
            <a:ext cx="54864" cy="713232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53512"/>
            <a:ext cx="24231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2E2E2E"/>
                </a:solidFill>
                <a:latin typeface="Calibri"/>
              </a:rPr>
              <a:t>Full artifact 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09544"/>
            <a:ext cx="242316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Parsed spec JSON, test plan, sim logs - fully reproducible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" y="3849624"/>
            <a:ext cx="54864" cy="713232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49624"/>
            <a:ext cx="24231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2E2E2E"/>
                </a:solidFill>
                <a:latin typeface="Calibri"/>
              </a:rPr>
              <a:t>Compile stability improved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05656"/>
            <a:ext cx="242316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Guardrail regen + repair prompt eliminated compile errors on solved set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23260" y="685800"/>
            <a:ext cx="2743200" cy="4160520"/>
          </a:xfrm>
          <a:prstGeom prst="rect">
            <a:avLst/>
          </a:prstGeom>
          <a:solidFill>
            <a:srgbClr val="F8F4F5"/>
          </a:solidFill>
          <a:ln w="9525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23260" y="685800"/>
            <a:ext cx="274320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23260" y="685800"/>
            <a:ext cx="2743200" cy="365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The Hard Problem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2988" y="1161288"/>
            <a:ext cx="54864" cy="7132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51860" y="1161288"/>
            <a:ext cx="24231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2E2E2E"/>
                </a:solidFill>
                <a:latin typeface="Calibri"/>
              </a:rPr>
              <a:t>Protocol oracle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1860" y="1417320"/>
            <a:ext cx="242316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FIFO / CDC / credit modules: Codex invents exact latency, counter, or queue-depth assumptions not in the spec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2988" y="2057400"/>
            <a:ext cx="54864" cy="7132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51860" y="2057400"/>
            <a:ext cx="24231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2E2E2E"/>
                </a:solidFill>
                <a:latin typeface="Calibri"/>
              </a:rPr>
              <a:t>Over-confident assertions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1860" y="2313432"/>
            <a:ext cx="242316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Generated oracle rejects even the correct mutant because spec timing is ambiguous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2988" y="2953512"/>
            <a:ext cx="54864" cy="7132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51860" y="2953512"/>
            <a:ext cx="24231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2E2E2E"/>
                </a:solidFill>
                <a:latin typeface="Calibri"/>
              </a:rPr>
              <a:t>Spec ambiguity not tool errors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1860" y="3209544"/>
            <a:ext cx="242316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Remaining 3 failures are not syntax - they are semantic oracle failures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2988" y="3849624"/>
            <a:ext cx="54864" cy="7132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51860" y="3849624"/>
            <a:ext cx="24231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2E2E2E"/>
                </a:solidFill>
                <a:latin typeface="Calibri"/>
              </a:rPr>
              <a:t>Not a solvable shortcut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51860" y="4105656"/>
            <a:ext cx="242316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Cannot hardcode reference checkers - must remain professor-safe / Codex-driven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79" y="685800"/>
            <a:ext cx="2743200" cy="4160520"/>
          </a:xfrm>
          <a:prstGeom prst="rect">
            <a:avLst/>
          </a:prstGeom>
          <a:solidFill>
            <a:srgbClr val="F8F4F5"/>
          </a:solidFill>
          <a:ln w="9525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79" y="685800"/>
            <a:ext cx="2743200" cy="3657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79" y="685800"/>
            <a:ext cx="2743200" cy="365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Phase 3 Plan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36207" y="1161288"/>
            <a:ext cx="54864" cy="713232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79" y="1161288"/>
            <a:ext cx="24231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2E2E2E"/>
                </a:solidFill>
                <a:latin typeface="Calibri"/>
              </a:rPr>
              <a:t>Full visible benchmark run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79" y="1417320"/>
            <a:ext cx="242316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Report aggregate metrics across complete ICLAD visible set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36207" y="2057400"/>
            <a:ext cx="54864" cy="713232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79" y="2057400"/>
            <a:ext cx="24231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2E2E2E"/>
                </a:solidFill>
                <a:latin typeface="Calibri"/>
              </a:rPr>
              <a:t>Stronger protocol prompting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79" y="2313432"/>
            <a:ext cx="242316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Push oracle_style: protocol_invariant further; test interface-only assertions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36207" y="2953512"/>
            <a:ext cx="54864" cy="713232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79" y="2953512"/>
            <a:ext cx="24231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2E2E2E"/>
                </a:solidFill>
                <a:latin typeface="Calibri"/>
              </a:rPr>
              <a:t>Repair loop for oracle mismatches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79" y="3209544"/>
            <a:ext cx="242316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Not just compile repair - also detect all-fail and soften oracle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7" y="3849624"/>
            <a:ext cx="54864" cy="713232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79" y="3849624"/>
            <a:ext cx="24231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2E2E2E"/>
                </a:solidFill>
                <a:latin typeface="Calibri"/>
              </a:rPr>
              <a:t>Deterministic post-processing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79" y="4105656"/>
            <a:ext cx="242316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Rule-based rewriter to remove overly specific invariants before simulation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4782312"/>
            <a:ext cx="8503920" cy="32918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050" b="0" i="1">
                <a:solidFill>
                  <a:srgbClr val="FFC627"/>
                </a:solidFill>
                <a:latin typeface="Calibri"/>
              </a:rPr>
              <a:t>Takeaway: 7/10 solved cleanly. The remaining challenge is semantic - constructing a trustworthy oracle from ambiguous protocol specs.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4828032"/>
            <a:ext cx="3657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